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5" r:id="rId2"/>
    <p:sldId id="2956" r:id="rId3"/>
    <p:sldId id="2957" r:id="rId4"/>
    <p:sldId id="2958" r:id="rId5"/>
    <p:sldId id="2960" r:id="rId6"/>
    <p:sldId id="2954" r:id="rId7"/>
    <p:sldId id="2959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A9DB-46BE-48DE-83C9-3A3657755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93804-4C0A-4872-AA5F-5C2B5AD5D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AE727-A1F2-4274-8224-0EAB84CA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90C41-BD0B-4F9B-9596-D13CA1AF9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07990-5B56-471D-9DC8-C822EFC8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0546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5E24-B959-4D13-B78D-9BF8831D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79E95-1090-47A3-AC32-E212BCAF3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C8769-B2A7-49E9-B482-B78B4880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D9C1B-E38F-4E98-A2B2-5280F19C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E371B-641F-49C9-A85F-D933EA3A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7064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116F-FAEA-42B3-810C-766D495E8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9F12E-C8B0-4D56-8940-E3F7758C8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916E-FCA7-4838-87B8-A57654AD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FED23-4B33-424B-8E25-8F9763F7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A79E6-5B36-496F-A548-D4E22300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0570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F9AA-51B7-4CD0-94FA-5BFFA6745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C208A-C993-4B54-B7AC-9A28F3252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B4943-520B-492E-982A-6FA60D45D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7774C-F83E-4060-89D8-9E58F734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44689-C04E-4314-9467-A1606C5F4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5CB4C-2DD1-4CA2-9703-A35DB205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78446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A03A4-1193-4B7A-81C1-2266222B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69610-8DC0-4E58-B4A6-EC60B9F5A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655E-84B8-47D0-B745-264067128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A3269F-4FA3-4547-845E-A8E06E443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F55C7A-F16B-4C64-8FAD-AF840986A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ED987-4855-420D-9CA9-9A53C782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89164-CCF2-4F72-8ED4-FB1CDB232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1E55C-03B9-4CAE-B76B-208610D32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24808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806E-1CB9-4CB7-A5B6-7B3E508D8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2D719-37FD-4CD8-9820-D3BDEA671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8C787-5FA0-4ADE-A537-41B5C401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094B4-C427-4A09-8662-C0D4013D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0887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6472A8-9604-4E9B-A1C2-720ADA4E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A3DEBB-B926-46B1-9B90-01A7CC422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71B7B-8542-4EBB-9392-5EBBE5E3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41896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0C50-1327-40B0-AFA3-620392E2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3CB28-5408-4B1E-B8AB-B00F9AB68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9F9C4-4A7B-4B3D-AD34-EF3A14306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C6384-D810-4F04-B726-EE19DC82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0A363-0665-435A-942A-CDA321628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B0B27-6FD3-4C89-A043-5FE54B32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1269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F4A47-3463-4CD1-8114-A3C6007DC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AC79E-1872-4E44-885C-A4348C3EF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B10EA-8CD2-453B-997A-BCE1163D4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1BF00-E412-4C90-A686-BF9802DC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8C099-55DC-42EA-92EE-EEC78440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50BB1-BCA2-4D9F-B844-9360DC33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587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696F-02BB-4F30-A07B-19E6D104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AF-1735-44D3-ABD4-47C504610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6FF69-80F6-456E-B7C4-D4F617EC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274C6-6D13-4DB4-AC1E-EDB011FDA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D2DC9-F8F7-4F1C-AF28-46FFF68E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2289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3ABD1-80CB-4146-A7D6-3D38CA52C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3D065-B95A-4A10-8009-468991A69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79F7-FF7C-4A2C-ABD4-114F205E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557B9-4977-4302-A58A-CA902005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5C570-F174-4722-9E1E-BB16362F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9954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C36D7F-A7C9-4386-8B53-D54962B29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A196F-E3D7-47E7-988D-B073D41D5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71F5E-EDC0-45E5-A67A-011096C7D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7318D-0CB2-42E0-8C23-37BB2C230C13}" type="datetimeFigureOut">
              <a:rPr lang="fr-CH" smtClean="0"/>
              <a:t>30.10.2020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92E6D-71B6-4A02-9B70-60C0A36EC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4EC81-537A-400E-9F80-E1B3A1B95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9B57A-149A-4319-899F-8FBC5524087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7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24F9E8B-A6E5-4F26-9AC0-4542A0495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316120"/>
              </p:ext>
            </p:extLst>
          </p:nvPr>
        </p:nvGraphicFramePr>
        <p:xfrm>
          <a:off x="4112656" y="1452414"/>
          <a:ext cx="7386554" cy="38497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4022">
                  <a:extLst>
                    <a:ext uri="{9D8B030D-6E8A-4147-A177-3AD203B41FA5}">
                      <a16:colId xmlns:a16="http://schemas.microsoft.com/office/drawing/2014/main" val="199584615"/>
                    </a:ext>
                  </a:extLst>
                </a:gridCol>
                <a:gridCol w="2026763">
                  <a:extLst>
                    <a:ext uri="{9D8B030D-6E8A-4147-A177-3AD203B41FA5}">
                      <a16:colId xmlns:a16="http://schemas.microsoft.com/office/drawing/2014/main" val="4093770955"/>
                    </a:ext>
                  </a:extLst>
                </a:gridCol>
                <a:gridCol w="2130457">
                  <a:extLst>
                    <a:ext uri="{9D8B030D-6E8A-4147-A177-3AD203B41FA5}">
                      <a16:colId xmlns:a16="http://schemas.microsoft.com/office/drawing/2014/main" val="2210960060"/>
                    </a:ext>
                  </a:extLst>
                </a:gridCol>
                <a:gridCol w="1815312">
                  <a:extLst>
                    <a:ext uri="{9D8B030D-6E8A-4147-A177-3AD203B41FA5}">
                      <a16:colId xmlns:a16="http://schemas.microsoft.com/office/drawing/2014/main" val="2881559953"/>
                    </a:ext>
                  </a:extLst>
                </a:gridCol>
              </a:tblGrid>
              <a:tr h="806930">
                <a:tc>
                  <a:txBody>
                    <a:bodyPr/>
                    <a:lstStyle/>
                    <a:p>
                      <a:pPr algn="l"/>
                      <a:endParaRPr lang="fr-CH" sz="1200" b="1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i="0" u="none" strike="noStrike" noProof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fr-CH" sz="1200" b="1" i="0" u="none" strike="noStrike" noProof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582087"/>
                  </a:ext>
                </a:extLst>
              </a:tr>
              <a:tr h="1046378">
                <a:tc>
                  <a:txBody>
                    <a:bodyPr/>
                    <a:lstStyle/>
                    <a:p>
                      <a:pPr algn="l"/>
                      <a:endParaRPr lang="fr-CH" sz="120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913298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1" i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320244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401037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5D96EA0-FEB9-4453-B2D8-59D2FD241A06}"/>
              </a:ext>
            </a:extLst>
          </p:cNvPr>
          <p:cNvSpPr/>
          <p:nvPr/>
        </p:nvSpPr>
        <p:spPr>
          <a:xfrm rot="16200000">
            <a:off x="3057981" y="2757279"/>
            <a:ext cx="13469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000" b="1"/>
              <a:t>Probability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C2F538-64D0-439A-9C27-A118A693EF30}"/>
              </a:ext>
            </a:extLst>
          </p:cNvPr>
          <p:cNvSpPr/>
          <p:nvPr/>
        </p:nvSpPr>
        <p:spPr>
          <a:xfrm>
            <a:off x="7094568" y="5302162"/>
            <a:ext cx="1069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400" b="1"/>
              <a:t>Impact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5E3C6E1-7651-4749-9607-F1A9A46E3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684301"/>
              </p:ext>
            </p:extLst>
          </p:nvPr>
        </p:nvGraphicFramePr>
        <p:xfrm>
          <a:off x="407324" y="1543738"/>
          <a:ext cx="2942889" cy="12837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42889">
                  <a:extLst>
                    <a:ext uri="{9D8B030D-6E8A-4147-A177-3AD203B41FA5}">
                      <a16:colId xmlns:a16="http://schemas.microsoft.com/office/drawing/2014/main" val="981724328"/>
                    </a:ext>
                  </a:extLst>
                </a:gridCol>
              </a:tblGrid>
              <a:tr h="369302">
                <a:tc>
                  <a:txBody>
                    <a:bodyPr/>
                    <a:lstStyle/>
                    <a:p>
                      <a:r>
                        <a:rPr lang="fr-CH"/>
                        <a:t>Selections</a:t>
                      </a:r>
                      <a:endParaRPr lang="fr-CH" err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33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/>
                        <a:t>Risk owner</a:t>
                      </a:r>
                    </a:p>
                    <a:p>
                      <a:r>
                        <a:rPr lang="fr-CH"/>
                        <a:t>Project</a:t>
                      </a:r>
                    </a:p>
                    <a:p>
                      <a:r>
                        <a:rPr lang="fr-CH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8820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0D9A37B-792D-444F-A5F6-C02024ED9EC2}"/>
              </a:ext>
            </a:extLst>
          </p:cNvPr>
          <p:cNvSpPr txBox="1"/>
          <p:nvPr/>
        </p:nvSpPr>
        <p:spPr>
          <a:xfrm>
            <a:off x="326260" y="274320"/>
            <a:ext cx="266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/>
              <a:t>Tab Criticality</a:t>
            </a:r>
          </a:p>
        </p:txBody>
      </p:sp>
    </p:spTree>
    <p:extLst>
      <p:ext uri="{BB962C8B-B14F-4D97-AF65-F5344CB8AC3E}">
        <p14:creationId xmlns:p14="http://schemas.microsoft.com/office/powerpoint/2010/main" val="2265820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5E3C6E1-7651-4749-9607-F1A9A46E3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472838"/>
              </p:ext>
            </p:extLst>
          </p:nvPr>
        </p:nvGraphicFramePr>
        <p:xfrm>
          <a:off x="326260" y="1044987"/>
          <a:ext cx="2791196" cy="12837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91196">
                  <a:extLst>
                    <a:ext uri="{9D8B030D-6E8A-4147-A177-3AD203B41FA5}">
                      <a16:colId xmlns:a16="http://schemas.microsoft.com/office/drawing/2014/main" val="981724328"/>
                    </a:ext>
                  </a:extLst>
                </a:gridCol>
              </a:tblGrid>
              <a:tr h="369302">
                <a:tc>
                  <a:txBody>
                    <a:bodyPr/>
                    <a:lstStyle/>
                    <a:p>
                      <a:r>
                        <a:rPr lang="fr-CH"/>
                        <a:t>Selections</a:t>
                      </a:r>
                      <a:endParaRPr lang="fr-CH" err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33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/>
                        <a:t>Risk owner</a:t>
                      </a:r>
                    </a:p>
                    <a:p>
                      <a:r>
                        <a:rPr lang="fr-CH"/>
                        <a:t>Project</a:t>
                      </a:r>
                    </a:p>
                    <a:p>
                      <a:r>
                        <a:rPr lang="fr-CH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88207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BF4A9A4-2714-48DE-BB53-0CDEF110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499" y="2022088"/>
            <a:ext cx="4625402" cy="24327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2C5572-7AE1-41B5-892C-AAB91400BADA}"/>
              </a:ext>
            </a:extLst>
          </p:cNvPr>
          <p:cNvSpPr/>
          <p:nvPr/>
        </p:nvSpPr>
        <p:spPr>
          <a:xfrm>
            <a:off x="3915574" y="1560363"/>
            <a:ext cx="1289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/>
              <a:t>Word count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2648BD-4901-4804-80B0-D203F4CC9153}"/>
              </a:ext>
            </a:extLst>
          </p:cNvPr>
          <p:cNvSpPr/>
          <p:nvPr/>
        </p:nvSpPr>
        <p:spPr>
          <a:xfrm>
            <a:off x="8639973" y="1502172"/>
            <a:ext cx="23760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H"/>
              <a:t>Sentiment analysis</a:t>
            </a:r>
          </a:p>
        </p:txBody>
      </p:sp>
      <p:pic>
        <p:nvPicPr>
          <p:cNvPr id="1026" name="Picture 2" descr="Sentiment through the narratives of Jane Austen's novels">
            <a:extLst>
              <a:ext uri="{FF2B5EF4-FFF2-40B4-BE49-F238E27FC236}">
                <a16:creationId xmlns:a16="http://schemas.microsoft.com/office/drawing/2014/main" id="{9E2FAD07-B6FD-4AFF-AD67-318CD96D7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901" y="2174994"/>
            <a:ext cx="3560582" cy="395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115B8E-701F-48E8-8220-26F248C48BD9}"/>
              </a:ext>
            </a:extLst>
          </p:cNvPr>
          <p:cNvSpPr txBox="1"/>
          <p:nvPr/>
        </p:nvSpPr>
        <p:spPr>
          <a:xfrm>
            <a:off x="326260" y="274320"/>
            <a:ext cx="266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/>
              <a:t>Tab Text analysis</a:t>
            </a:r>
          </a:p>
        </p:txBody>
      </p:sp>
    </p:spTree>
    <p:extLst>
      <p:ext uri="{BB962C8B-B14F-4D97-AF65-F5344CB8AC3E}">
        <p14:creationId xmlns:p14="http://schemas.microsoft.com/office/powerpoint/2010/main" val="4214326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orld Choropleth · GitHub">
            <a:extLst>
              <a:ext uri="{FF2B5EF4-FFF2-40B4-BE49-F238E27FC236}">
                <a16:creationId xmlns:a16="http://schemas.microsoft.com/office/drawing/2014/main" id="{62D76CE0-D958-4641-A1ED-5FC169566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47750"/>
            <a:ext cx="9144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11A214-C069-434C-AB52-6BDCDD52D853}"/>
              </a:ext>
            </a:extLst>
          </p:cNvPr>
          <p:cNvSpPr/>
          <p:nvPr/>
        </p:nvSpPr>
        <p:spPr>
          <a:xfrm>
            <a:off x="5037792" y="800874"/>
            <a:ext cx="2590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/>
              <a:t>Countries with higher risk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1439C-9E30-43F7-805E-A1139E8C515C}"/>
              </a:ext>
            </a:extLst>
          </p:cNvPr>
          <p:cNvSpPr txBox="1"/>
          <p:nvPr/>
        </p:nvSpPr>
        <p:spPr>
          <a:xfrm>
            <a:off x="326260" y="274320"/>
            <a:ext cx="266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/>
              <a:t>Tab Geographical analysis</a:t>
            </a:r>
          </a:p>
        </p:txBody>
      </p:sp>
    </p:spTree>
    <p:extLst>
      <p:ext uri="{BB962C8B-B14F-4D97-AF65-F5344CB8AC3E}">
        <p14:creationId xmlns:p14="http://schemas.microsoft.com/office/powerpoint/2010/main" val="418683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11A214-C069-434C-AB52-6BDCDD52D853}"/>
              </a:ext>
            </a:extLst>
          </p:cNvPr>
          <p:cNvSpPr/>
          <p:nvPr/>
        </p:nvSpPr>
        <p:spPr>
          <a:xfrm>
            <a:off x="326260" y="795212"/>
            <a:ext cx="32333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H"/>
              <a:t>Components proximity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12AB7-A026-42AB-BE44-7C429B0EEA0A}"/>
              </a:ext>
            </a:extLst>
          </p:cNvPr>
          <p:cNvSpPr txBox="1"/>
          <p:nvPr/>
        </p:nvSpPr>
        <p:spPr>
          <a:xfrm>
            <a:off x="326260" y="274320"/>
            <a:ext cx="266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/>
              <a:t>Tab Network analysis</a:t>
            </a:r>
          </a:p>
        </p:txBody>
      </p:sp>
      <p:pic>
        <p:nvPicPr>
          <p:cNvPr id="2" name="Picture 2" descr="Pairs of words in Pride and Prejudice that show at least a .15 correlation of appearing within the same 10-line section">
            <a:extLst>
              <a:ext uri="{FF2B5EF4-FFF2-40B4-BE49-F238E27FC236}">
                <a16:creationId xmlns:a16="http://schemas.microsoft.com/office/drawing/2014/main" id="{BDC2DA41-CC14-4E28-B322-83B414997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872" y="437436"/>
            <a:ext cx="6213528" cy="6213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75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E271B47-DA1F-4958-82CD-7E64B4AA7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894" y="818605"/>
            <a:ext cx="6532028" cy="522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34A7FB-3F69-4DCF-87C6-CDE6AFDA307B}"/>
              </a:ext>
            </a:extLst>
          </p:cNvPr>
          <p:cNvSpPr/>
          <p:nvPr/>
        </p:nvSpPr>
        <p:spPr>
          <a:xfrm>
            <a:off x="7331268" y="6454837"/>
            <a:ext cx="4678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/>
              <a:t>https://www.bmj.com/content/370/bmj.m3223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C9E3AA-A0D2-4B05-8C48-127F794C5197}"/>
              </a:ext>
            </a:extLst>
          </p:cNvPr>
          <p:cNvSpPr/>
          <p:nvPr/>
        </p:nvSpPr>
        <p:spPr>
          <a:xfrm>
            <a:off x="4256900" y="6454837"/>
            <a:ext cx="3074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/>
              <a:t>Source: British Medical Journal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2C3327-A8C2-40EB-942D-70069B684DE9}"/>
              </a:ext>
            </a:extLst>
          </p:cNvPr>
          <p:cNvSpPr/>
          <p:nvPr/>
        </p:nvSpPr>
        <p:spPr>
          <a:xfrm>
            <a:off x="194351" y="218496"/>
            <a:ext cx="5946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/>
              <a:t>Example: Covid transmission risk level by activity and location</a:t>
            </a:r>
          </a:p>
        </p:txBody>
      </p:sp>
    </p:spTree>
    <p:extLst>
      <p:ext uri="{BB962C8B-B14F-4D97-AF65-F5344CB8AC3E}">
        <p14:creationId xmlns:p14="http://schemas.microsoft.com/office/powerpoint/2010/main" val="139442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4B0582-C26F-44CA-8D16-6F518AB01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805189"/>
              </p:ext>
            </p:extLst>
          </p:nvPr>
        </p:nvGraphicFramePr>
        <p:xfrm>
          <a:off x="169947" y="2367447"/>
          <a:ext cx="432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000">
                  <a:extLst>
                    <a:ext uri="{9D8B030D-6E8A-4147-A177-3AD203B41FA5}">
                      <a16:colId xmlns:a16="http://schemas.microsoft.com/office/drawing/2014/main" val="999308141"/>
                    </a:ext>
                  </a:extLst>
                </a:gridCol>
              </a:tblGrid>
              <a:tr h="375652">
                <a:tc>
                  <a:txBody>
                    <a:bodyPr/>
                    <a:lstStyle/>
                    <a:p>
                      <a:r>
                        <a:rPr lang="fr-CH" sz="1800"/>
                        <a:t>Risk Description (CAUSES?)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137356"/>
                  </a:ext>
                </a:extLst>
              </a:tr>
              <a:tr h="1784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48193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BC7450-E12B-4680-B9C2-EFBC8C30EA3B}"/>
              </a:ext>
            </a:extLst>
          </p:cNvPr>
          <p:cNvGraphicFramePr>
            <a:graphicFrameLocks noGrp="1"/>
          </p:cNvGraphicFramePr>
          <p:nvPr/>
        </p:nvGraphicFramePr>
        <p:xfrm>
          <a:off x="9081313" y="152937"/>
          <a:ext cx="2340000" cy="192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0000">
                  <a:extLst>
                    <a:ext uri="{9D8B030D-6E8A-4147-A177-3AD203B41FA5}">
                      <a16:colId xmlns:a16="http://schemas.microsoft.com/office/drawing/2014/main" val="1152422755"/>
                    </a:ext>
                  </a:extLst>
                </a:gridCol>
                <a:gridCol w="390000">
                  <a:extLst>
                    <a:ext uri="{9D8B030D-6E8A-4147-A177-3AD203B41FA5}">
                      <a16:colId xmlns:a16="http://schemas.microsoft.com/office/drawing/2014/main" val="507023224"/>
                    </a:ext>
                  </a:extLst>
                </a:gridCol>
                <a:gridCol w="390000">
                  <a:extLst>
                    <a:ext uri="{9D8B030D-6E8A-4147-A177-3AD203B41FA5}">
                      <a16:colId xmlns:a16="http://schemas.microsoft.com/office/drawing/2014/main" val="358688271"/>
                    </a:ext>
                  </a:extLst>
                </a:gridCol>
                <a:gridCol w="390000">
                  <a:extLst>
                    <a:ext uri="{9D8B030D-6E8A-4147-A177-3AD203B41FA5}">
                      <a16:colId xmlns:a16="http://schemas.microsoft.com/office/drawing/2014/main" val="1083815758"/>
                    </a:ext>
                  </a:extLst>
                </a:gridCol>
                <a:gridCol w="390000">
                  <a:extLst>
                    <a:ext uri="{9D8B030D-6E8A-4147-A177-3AD203B41FA5}">
                      <a16:colId xmlns:a16="http://schemas.microsoft.com/office/drawing/2014/main" val="1246096739"/>
                    </a:ext>
                  </a:extLst>
                </a:gridCol>
                <a:gridCol w="390000">
                  <a:extLst>
                    <a:ext uri="{9D8B030D-6E8A-4147-A177-3AD203B41FA5}">
                      <a16:colId xmlns:a16="http://schemas.microsoft.com/office/drawing/2014/main" val="808277608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H" b="1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b="1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400" b="1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l"/>
                      <a:r>
                        <a:rPr lang="fr-CH" sz="1400" b="1" err="1"/>
                        <a:t>Probability</a:t>
                      </a:r>
                      <a:endParaRPr lang="fr-CH" sz="1600" b="1" err="1"/>
                    </a:p>
                  </a:txBody>
                  <a:tcPr vert="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204645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b="1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400" b="1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036536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400" b="1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668006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400" b="1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11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CH" sz="1400" b="1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400" b="1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400" b="1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400" b="1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24989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68B118-0E7A-47C3-9C63-472191A1D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301846"/>
              </p:ext>
            </p:extLst>
          </p:nvPr>
        </p:nvGraphicFramePr>
        <p:xfrm>
          <a:off x="169948" y="752916"/>
          <a:ext cx="4320000" cy="740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9136">
                  <a:extLst>
                    <a:ext uri="{9D8B030D-6E8A-4147-A177-3AD203B41FA5}">
                      <a16:colId xmlns:a16="http://schemas.microsoft.com/office/drawing/2014/main" val="3437825708"/>
                    </a:ext>
                  </a:extLst>
                </a:gridCol>
                <a:gridCol w="975827">
                  <a:extLst>
                    <a:ext uri="{9D8B030D-6E8A-4147-A177-3AD203B41FA5}">
                      <a16:colId xmlns:a16="http://schemas.microsoft.com/office/drawing/2014/main" val="2576959724"/>
                    </a:ext>
                  </a:extLst>
                </a:gridCol>
                <a:gridCol w="1435037">
                  <a:extLst>
                    <a:ext uri="{9D8B030D-6E8A-4147-A177-3AD203B41FA5}">
                      <a16:colId xmlns:a16="http://schemas.microsoft.com/office/drawing/2014/main" val="48085375"/>
                    </a:ext>
                  </a:extLst>
                </a:gridCol>
              </a:tblGrid>
              <a:tr h="369302">
                <a:tc>
                  <a:txBody>
                    <a:bodyPr/>
                    <a:lstStyle/>
                    <a:p>
                      <a:r>
                        <a:rPr lang="fr-CH"/>
                        <a:t>Project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/>
                        <a:t>Risk n.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/>
                        <a:t>Area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49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9311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E00651-9A80-4DEB-B5C1-DB4BA573B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526301"/>
              </p:ext>
            </p:extLst>
          </p:nvPr>
        </p:nvGraphicFramePr>
        <p:xfrm>
          <a:off x="169947" y="1559254"/>
          <a:ext cx="4320000" cy="740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000">
                  <a:extLst>
                    <a:ext uri="{9D8B030D-6E8A-4147-A177-3AD203B41FA5}">
                      <a16:colId xmlns:a16="http://schemas.microsoft.com/office/drawing/2014/main" val="981724328"/>
                    </a:ext>
                  </a:extLst>
                </a:gridCol>
              </a:tblGrid>
              <a:tr h="369302">
                <a:tc>
                  <a:txBody>
                    <a:bodyPr/>
                    <a:lstStyle/>
                    <a:p>
                      <a:r>
                        <a:rPr lang="fr-CH"/>
                        <a:t>Risk </a:t>
                      </a:r>
                      <a:r>
                        <a:rPr lang="fr-CH" err="1"/>
                        <a:t>name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33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88207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124866-1A13-4D69-A2CC-7D3D904C128D}"/>
              </a:ext>
            </a:extLst>
          </p:cNvPr>
          <p:cNvGraphicFramePr>
            <a:graphicFrameLocks noGrp="1"/>
          </p:cNvGraphicFramePr>
          <p:nvPr/>
        </p:nvGraphicFramePr>
        <p:xfrm>
          <a:off x="4584158" y="2367447"/>
          <a:ext cx="432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000">
                  <a:extLst>
                    <a:ext uri="{9D8B030D-6E8A-4147-A177-3AD203B41FA5}">
                      <a16:colId xmlns:a16="http://schemas.microsoft.com/office/drawing/2014/main" val="940276154"/>
                    </a:ext>
                  </a:extLst>
                </a:gridCol>
              </a:tblGrid>
              <a:tr h="375424">
                <a:tc>
                  <a:txBody>
                    <a:bodyPr/>
                    <a:lstStyle/>
                    <a:p>
                      <a:r>
                        <a:rPr lang="fr-CH" sz="1800"/>
                        <a:t>Impact Description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665788"/>
                  </a:ext>
                </a:extLst>
              </a:tr>
              <a:tr h="17845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95842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DB287A5-AF46-4278-BCF3-43FC503B8E18}"/>
              </a:ext>
            </a:extLst>
          </p:cNvPr>
          <p:cNvGraphicFramePr>
            <a:graphicFrameLocks noGrp="1"/>
          </p:cNvGraphicFramePr>
          <p:nvPr/>
        </p:nvGraphicFramePr>
        <p:xfrm>
          <a:off x="169947" y="4595498"/>
          <a:ext cx="4320000" cy="2155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000">
                  <a:extLst>
                    <a:ext uri="{9D8B030D-6E8A-4147-A177-3AD203B41FA5}">
                      <a16:colId xmlns:a16="http://schemas.microsoft.com/office/drawing/2014/main" val="999308141"/>
                    </a:ext>
                  </a:extLst>
                </a:gridCol>
              </a:tblGrid>
              <a:tr h="375652">
                <a:tc>
                  <a:txBody>
                    <a:bodyPr/>
                    <a:lstStyle/>
                    <a:p>
                      <a:r>
                        <a:rPr lang="fr-CH" sz="1800"/>
                        <a:t>Key Action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137356"/>
                  </a:ext>
                </a:extLst>
              </a:tr>
              <a:tr h="5900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481932"/>
                  </a:ext>
                </a:extLst>
              </a:tr>
              <a:tr h="594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633636"/>
                  </a:ext>
                </a:extLst>
              </a:tr>
              <a:tr h="5947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91516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E99901-9F52-4DC7-A2E6-409EC48F5757}"/>
              </a:ext>
            </a:extLst>
          </p:cNvPr>
          <p:cNvGraphicFramePr>
            <a:graphicFrameLocks noGrp="1"/>
          </p:cNvGraphicFramePr>
          <p:nvPr/>
        </p:nvGraphicFramePr>
        <p:xfrm>
          <a:off x="4584158" y="4595498"/>
          <a:ext cx="432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99930814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4791519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937042580"/>
                    </a:ext>
                  </a:extLst>
                </a:gridCol>
              </a:tblGrid>
              <a:tr h="375652">
                <a:tc>
                  <a:txBody>
                    <a:bodyPr/>
                    <a:lstStyle/>
                    <a:p>
                      <a:r>
                        <a:rPr lang="fr-CH" sz="1800" err="1"/>
                        <a:t>Responsible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800"/>
                        <a:t>Deadline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800" err="1"/>
                        <a:t>Status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137356"/>
                  </a:ext>
                </a:extLst>
              </a:tr>
              <a:tr h="5947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481932"/>
                  </a:ext>
                </a:extLst>
              </a:tr>
              <a:tr h="594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979160"/>
                  </a:ext>
                </a:extLst>
              </a:tr>
              <a:tr h="5947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730558"/>
                  </a:ext>
                </a:extLst>
              </a:tr>
            </a:tbl>
          </a:graphicData>
        </a:graphic>
      </p:graphicFrame>
      <p:sp>
        <p:nvSpPr>
          <p:cNvPr id="13" name="Action Button: Go Home 1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282B186-CF6F-404D-A6FC-8274B7E95E60}"/>
              </a:ext>
            </a:extLst>
          </p:cNvPr>
          <p:cNvSpPr/>
          <p:nvPr/>
        </p:nvSpPr>
        <p:spPr>
          <a:xfrm>
            <a:off x="11647979" y="152937"/>
            <a:ext cx="374073" cy="369916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EDA7EE-E95F-4D74-8A3E-70F677F03733}"/>
              </a:ext>
            </a:extLst>
          </p:cNvPr>
          <p:cNvGraphicFramePr>
            <a:graphicFrameLocks noGrp="1"/>
          </p:cNvGraphicFramePr>
          <p:nvPr/>
        </p:nvGraphicFramePr>
        <p:xfrm>
          <a:off x="9081312" y="2367446"/>
          <a:ext cx="2940739" cy="43880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40739">
                  <a:extLst>
                    <a:ext uri="{9D8B030D-6E8A-4147-A177-3AD203B41FA5}">
                      <a16:colId xmlns:a16="http://schemas.microsoft.com/office/drawing/2014/main" val="940276154"/>
                    </a:ext>
                  </a:extLst>
                </a:gridCol>
              </a:tblGrid>
              <a:tr h="376946">
                <a:tc>
                  <a:txBody>
                    <a:bodyPr/>
                    <a:lstStyle/>
                    <a:p>
                      <a:r>
                        <a:rPr lang="fr-CH" sz="1800"/>
                        <a:t>Data, Charts, Images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665788"/>
                  </a:ext>
                </a:extLst>
              </a:tr>
              <a:tr h="40111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95842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AC5683E-BE66-4C60-B62F-00CE101DC054}"/>
              </a:ext>
            </a:extLst>
          </p:cNvPr>
          <p:cNvSpPr/>
          <p:nvPr/>
        </p:nvSpPr>
        <p:spPr>
          <a:xfrm>
            <a:off x="9081313" y="1949048"/>
            <a:ext cx="7008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1400" b="1"/>
              <a:t>Impact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C7E66A9-CC2F-450B-8A3F-19B9A4ECF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713003"/>
              </p:ext>
            </p:extLst>
          </p:nvPr>
        </p:nvGraphicFramePr>
        <p:xfrm>
          <a:off x="4551493" y="751061"/>
          <a:ext cx="4352665" cy="740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5592">
                  <a:extLst>
                    <a:ext uri="{9D8B030D-6E8A-4147-A177-3AD203B41FA5}">
                      <a16:colId xmlns:a16="http://schemas.microsoft.com/office/drawing/2014/main" val="3437825708"/>
                    </a:ext>
                  </a:extLst>
                </a:gridCol>
                <a:gridCol w="1457073">
                  <a:extLst>
                    <a:ext uri="{9D8B030D-6E8A-4147-A177-3AD203B41FA5}">
                      <a16:colId xmlns:a16="http://schemas.microsoft.com/office/drawing/2014/main" val="48085375"/>
                    </a:ext>
                  </a:extLst>
                </a:gridCol>
              </a:tblGrid>
              <a:tr h="369302">
                <a:tc>
                  <a:txBody>
                    <a:bodyPr/>
                    <a:lstStyle/>
                    <a:p>
                      <a:r>
                        <a:rPr lang="fr-CH"/>
                        <a:t>Risk </a:t>
                      </a:r>
                      <a:r>
                        <a:rPr lang="fr-CH" err="1"/>
                        <a:t>Owner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/>
                        <a:t>Last </a:t>
                      </a:r>
                      <a:r>
                        <a:rPr lang="fr-CH" err="1"/>
                        <a:t>updated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49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93114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E052380E-D019-4EE3-B61A-207B6FADE020}"/>
              </a:ext>
            </a:extLst>
          </p:cNvPr>
          <p:cNvSpPr/>
          <p:nvPr/>
        </p:nvSpPr>
        <p:spPr>
          <a:xfrm>
            <a:off x="89659" y="0"/>
            <a:ext cx="49995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Tab Manage Risk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5CA360-6B00-442C-9E06-90E4A7450E19}"/>
              </a:ext>
            </a:extLst>
          </p:cNvPr>
          <p:cNvSpPr/>
          <p:nvPr/>
        </p:nvSpPr>
        <p:spPr>
          <a:xfrm>
            <a:off x="2068206" y="697424"/>
            <a:ext cx="1042481" cy="9485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1A686-FA7E-4CB7-AFE5-795E1CCE4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354" y="1581419"/>
            <a:ext cx="6171646" cy="92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64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5D96EA0-FEB9-4453-B2D8-59D2FD241A06}"/>
              </a:ext>
            </a:extLst>
          </p:cNvPr>
          <p:cNvSpPr/>
          <p:nvPr/>
        </p:nvSpPr>
        <p:spPr>
          <a:xfrm rot="16200000">
            <a:off x="3057981" y="2757279"/>
            <a:ext cx="13469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000" b="1"/>
              <a:t>Probability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C2F538-64D0-439A-9C27-A118A693EF30}"/>
              </a:ext>
            </a:extLst>
          </p:cNvPr>
          <p:cNvSpPr/>
          <p:nvPr/>
        </p:nvSpPr>
        <p:spPr>
          <a:xfrm>
            <a:off x="7094568" y="5302162"/>
            <a:ext cx="1069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H" sz="2400" b="1"/>
              <a:t>Impact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5E3C6E1-7651-4749-9607-F1A9A46E3F7D}"/>
              </a:ext>
            </a:extLst>
          </p:cNvPr>
          <p:cNvGraphicFramePr>
            <a:graphicFrameLocks noGrp="1"/>
          </p:cNvGraphicFramePr>
          <p:nvPr/>
        </p:nvGraphicFramePr>
        <p:xfrm>
          <a:off x="407324" y="1543738"/>
          <a:ext cx="2942889" cy="12837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42889">
                  <a:extLst>
                    <a:ext uri="{9D8B030D-6E8A-4147-A177-3AD203B41FA5}">
                      <a16:colId xmlns:a16="http://schemas.microsoft.com/office/drawing/2014/main" val="981724328"/>
                    </a:ext>
                  </a:extLst>
                </a:gridCol>
              </a:tblGrid>
              <a:tr h="369302">
                <a:tc>
                  <a:txBody>
                    <a:bodyPr/>
                    <a:lstStyle/>
                    <a:p>
                      <a:r>
                        <a:rPr lang="fr-CH"/>
                        <a:t>Selections</a:t>
                      </a:r>
                      <a:endParaRPr lang="fr-CH" err="1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33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/>
                        <a:t>Risk owner</a:t>
                      </a:r>
                    </a:p>
                    <a:p>
                      <a:r>
                        <a:rPr lang="fr-CH"/>
                        <a:t>Project</a:t>
                      </a:r>
                    </a:p>
                    <a:p>
                      <a:r>
                        <a:rPr lang="fr-CH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8820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0D9A37B-792D-444F-A5F6-C02024ED9EC2}"/>
              </a:ext>
            </a:extLst>
          </p:cNvPr>
          <p:cNvSpPr txBox="1"/>
          <p:nvPr/>
        </p:nvSpPr>
        <p:spPr>
          <a:xfrm>
            <a:off x="326260" y="274320"/>
            <a:ext cx="266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/>
              <a:t>Tab Criticality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6F74FE-39D9-4170-AA81-102201637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747583"/>
              </p:ext>
            </p:extLst>
          </p:nvPr>
        </p:nvGraphicFramePr>
        <p:xfrm>
          <a:off x="4201912" y="870966"/>
          <a:ext cx="7582764" cy="3413760"/>
        </p:xfrm>
        <a:graphic>
          <a:graphicData uri="http://schemas.openxmlformats.org/drawingml/2006/table">
            <a:tbl>
              <a:tblPr/>
              <a:tblGrid>
                <a:gridCol w="1895691">
                  <a:extLst>
                    <a:ext uri="{9D8B030D-6E8A-4147-A177-3AD203B41FA5}">
                      <a16:colId xmlns:a16="http://schemas.microsoft.com/office/drawing/2014/main" val="951637769"/>
                    </a:ext>
                  </a:extLst>
                </a:gridCol>
                <a:gridCol w="1895691">
                  <a:extLst>
                    <a:ext uri="{9D8B030D-6E8A-4147-A177-3AD203B41FA5}">
                      <a16:colId xmlns:a16="http://schemas.microsoft.com/office/drawing/2014/main" val="507132155"/>
                    </a:ext>
                  </a:extLst>
                </a:gridCol>
                <a:gridCol w="1895691">
                  <a:extLst>
                    <a:ext uri="{9D8B030D-6E8A-4147-A177-3AD203B41FA5}">
                      <a16:colId xmlns:a16="http://schemas.microsoft.com/office/drawing/2014/main" val="1212562554"/>
                    </a:ext>
                  </a:extLst>
                </a:gridCol>
                <a:gridCol w="1895691">
                  <a:extLst>
                    <a:ext uri="{9D8B030D-6E8A-4147-A177-3AD203B41FA5}">
                      <a16:colId xmlns:a16="http://schemas.microsoft.com/office/drawing/2014/main" val="5138817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47141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08578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626605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CH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71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8174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B6DADB7-CD7D-41F4-A378-ADD93373B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5" y="2293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336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130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Ramalho,João,Orbe,NSTC – Nescafé Dolce Gusto</dc:creator>
  <cp:lastModifiedBy>Ramalho,João,CH-Orbe</cp:lastModifiedBy>
  <cp:revision>49</cp:revision>
  <dcterms:created xsi:type="dcterms:W3CDTF">2020-09-26T18:12:45Z</dcterms:created>
  <dcterms:modified xsi:type="dcterms:W3CDTF">2020-10-30T19:57:25Z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da0a2f-b917-4d51-b0d0-d418a10c8b23_Enabled">
    <vt:lpwstr>True</vt:lpwstr>
  </property>
  <property fmtid="{D5CDD505-2E9C-101B-9397-08002B2CF9AE}" pid="3" name="MSIP_Label_1ada0a2f-b917-4d51-b0d0-d418a10c8b23_SiteId">
    <vt:lpwstr>12a3af23-a769-4654-847f-958f3d479f4a</vt:lpwstr>
  </property>
  <property fmtid="{D5CDD505-2E9C-101B-9397-08002B2CF9AE}" pid="4" name="MSIP_Label_1ada0a2f-b917-4d51-b0d0-d418a10c8b23_Owner">
    <vt:lpwstr>Joao.Ramalho@rdor.nestle.com</vt:lpwstr>
  </property>
  <property fmtid="{D5CDD505-2E9C-101B-9397-08002B2CF9AE}" pid="5" name="MSIP_Label_1ada0a2f-b917-4d51-b0d0-d418a10c8b23_SetDate">
    <vt:lpwstr>2020-09-26T18:13:08.6797389Z</vt:lpwstr>
  </property>
  <property fmtid="{D5CDD505-2E9C-101B-9397-08002B2CF9AE}" pid="6" name="MSIP_Label_1ada0a2f-b917-4d51-b0d0-d418a10c8b23_Name">
    <vt:lpwstr>General Use</vt:lpwstr>
  </property>
  <property fmtid="{D5CDD505-2E9C-101B-9397-08002B2CF9AE}" pid="7" name="MSIP_Label_1ada0a2f-b917-4d51-b0d0-d418a10c8b23_Application">
    <vt:lpwstr>Microsoft Azure Information Protection</vt:lpwstr>
  </property>
  <property fmtid="{D5CDD505-2E9C-101B-9397-08002B2CF9AE}" pid="8" name="MSIP_Label_1ada0a2f-b917-4d51-b0d0-d418a10c8b23_ActionId">
    <vt:lpwstr>28df1881-0d93-4782-a494-ecee0fc183f7</vt:lpwstr>
  </property>
  <property fmtid="{D5CDD505-2E9C-101B-9397-08002B2CF9AE}" pid="9" name="MSIP_Label_1ada0a2f-b917-4d51-b0d0-d418a10c8b23_Extended_MSFT_Method">
    <vt:lpwstr>Automatic</vt:lpwstr>
  </property>
  <property fmtid="{D5CDD505-2E9C-101B-9397-08002B2CF9AE}" pid="10" name="Sensitivity">
    <vt:lpwstr>General Use</vt:lpwstr>
  </property>
</Properties>
</file>