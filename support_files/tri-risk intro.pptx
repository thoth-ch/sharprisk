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9" r:id="rId15"/>
    <p:sldId id="266" r:id="rId16"/>
    <p:sldId id="267" r:id="rId17"/>
    <p:sldId id="268"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03" autoAdjust="0"/>
    <p:restoredTop sz="94660"/>
  </p:normalViewPr>
  <p:slideViewPr>
    <p:cSldViewPr snapToGrid="0">
      <p:cViewPr varScale="1">
        <p:scale>
          <a:sx n="119" d="100"/>
          <a:sy n="119" d="100"/>
        </p:scale>
        <p:origin x="46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fr-FR" sz="1800" b="0" strike="noStrike" spc="-1">
                <a:solidFill>
                  <a:srgbClr val="000000"/>
                </a:solidFill>
                <a:latin typeface="Calibri"/>
              </a:rPr>
              <a:t>Click to move the slide</a:t>
            </a:r>
          </a:p>
        </p:txBody>
      </p:sp>
      <p:sp>
        <p:nvSpPr>
          <p:cNvPr id="165" name="PlaceHolder 2"/>
          <p:cNvSpPr>
            <a:spLocks noGrp="1"/>
          </p:cNvSpPr>
          <p:nvPr>
            <p:ph type="body"/>
          </p:nvPr>
        </p:nvSpPr>
        <p:spPr>
          <a:xfrm>
            <a:off x="756000" y="5078520"/>
            <a:ext cx="6047640" cy="4811040"/>
          </a:xfrm>
          <a:prstGeom prst="rect">
            <a:avLst/>
          </a:prstGeom>
        </p:spPr>
        <p:txBody>
          <a:bodyPr lIns="0" tIns="0" rIns="0" bIns="0"/>
          <a:lstStyle/>
          <a:p>
            <a:r>
              <a:rPr lang="en-GB" sz="2000" b="0" strike="noStrike" spc="-1">
                <a:latin typeface="Arial"/>
              </a:rPr>
              <a:t>Click to edit the notes format</a:t>
            </a:r>
          </a:p>
        </p:txBody>
      </p:sp>
      <p:sp>
        <p:nvSpPr>
          <p:cNvPr id="166" name="PlaceHolder 3"/>
          <p:cNvSpPr>
            <a:spLocks noGrp="1"/>
          </p:cNvSpPr>
          <p:nvPr>
            <p:ph type="hdr"/>
          </p:nvPr>
        </p:nvSpPr>
        <p:spPr>
          <a:xfrm>
            <a:off x="0" y="0"/>
            <a:ext cx="3280680" cy="534240"/>
          </a:xfrm>
          <a:prstGeom prst="rect">
            <a:avLst/>
          </a:prstGeom>
        </p:spPr>
        <p:txBody>
          <a:bodyPr lIns="0" tIns="0" rIns="0" bIns="0"/>
          <a:lstStyle/>
          <a:p>
            <a:r>
              <a:rPr lang="en-GB" sz="1400" b="0" strike="noStrike" spc="-1">
                <a:latin typeface="Times New Roman"/>
              </a:rPr>
              <a:t> </a:t>
            </a:r>
          </a:p>
        </p:txBody>
      </p:sp>
      <p:sp>
        <p:nvSpPr>
          <p:cNvPr id="167" name="PlaceHolder 4"/>
          <p:cNvSpPr>
            <a:spLocks noGrp="1"/>
          </p:cNvSpPr>
          <p:nvPr>
            <p:ph type="dt"/>
          </p:nvPr>
        </p:nvSpPr>
        <p:spPr>
          <a:xfrm>
            <a:off x="4278960" y="0"/>
            <a:ext cx="3280680" cy="534240"/>
          </a:xfrm>
          <a:prstGeom prst="rect">
            <a:avLst/>
          </a:prstGeom>
        </p:spPr>
        <p:txBody>
          <a:bodyPr lIns="0" tIns="0" rIns="0" bIns="0"/>
          <a:lstStyle/>
          <a:p>
            <a:pPr algn="r"/>
            <a:r>
              <a:rPr lang="en-GB" sz="1400" b="0" strike="noStrike" spc="-1">
                <a:latin typeface="Times New Roman"/>
              </a:rPr>
              <a:t> </a:t>
            </a:r>
          </a:p>
        </p:txBody>
      </p:sp>
      <p:sp>
        <p:nvSpPr>
          <p:cNvPr id="168" name="PlaceHolder 5"/>
          <p:cNvSpPr>
            <a:spLocks noGrp="1"/>
          </p:cNvSpPr>
          <p:nvPr>
            <p:ph type="ftr"/>
          </p:nvPr>
        </p:nvSpPr>
        <p:spPr>
          <a:xfrm>
            <a:off x="0" y="10157400"/>
            <a:ext cx="3280680" cy="534240"/>
          </a:xfrm>
          <a:prstGeom prst="rect">
            <a:avLst/>
          </a:prstGeom>
        </p:spPr>
        <p:txBody>
          <a:bodyPr lIns="0" tIns="0" rIns="0" bIns="0" anchor="b"/>
          <a:lstStyle/>
          <a:p>
            <a:r>
              <a:rPr lang="en-GB" sz="1400" b="0" strike="noStrike" spc="-1">
                <a:latin typeface="Times New Roman"/>
              </a:rPr>
              <a:t> </a:t>
            </a:r>
          </a:p>
        </p:txBody>
      </p:sp>
      <p:sp>
        <p:nvSpPr>
          <p:cNvPr id="169" name="PlaceHolder 6"/>
          <p:cNvSpPr>
            <a:spLocks noGrp="1"/>
          </p:cNvSpPr>
          <p:nvPr>
            <p:ph type="sldNum"/>
          </p:nvPr>
        </p:nvSpPr>
        <p:spPr>
          <a:xfrm>
            <a:off x="4278960" y="10157400"/>
            <a:ext cx="3280680" cy="534240"/>
          </a:xfrm>
          <a:prstGeom prst="rect">
            <a:avLst/>
          </a:prstGeom>
        </p:spPr>
        <p:txBody>
          <a:bodyPr lIns="0" tIns="0" rIns="0" bIns="0" anchor="b"/>
          <a:lstStyle/>
          <a:p>
            <a:pPr algn="r"/>
            <a:fld id="{8561BE56-341E-4421-9D5E-844ADDBD3D84}" type="slidenum">
              <a:rPr lang="en-GB" sz="1400" b="0" strike="noStrike" spc="-1">
                <a:latin typeface="Times New Roman"/>
              </a:rPr>
              <a:t>‹#›</a:t>
            </a:fld>
            <a:endParaRPr lang="en-GB"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noRot="1" noChangeAspect="1"/>
          </p:cNvSpPr>
          <p:nvPr>
            <p:ph type="sldImg"/>
          </p:nvPr>
        </p:nvSpPr>
        <p:spPr>
          <a:xfrm>
            <a:off x="685800" y="1143000"/>
            <a:ext cx="5486040" cy="3085920"/>
          </a:xfrm>
          <a:prstGeom prst="rect">
            <a:avLst/>
          </a:prstGeom>
        </p:spPr>
      </p:sp>
      <p:sp>
        <p:nvSpPr>
          <p:cNvPr id="279" name="PlaceHolder 2"/>
          <p:cNvSpPr>
            <a:spLocks noGrp="1"/>
          </p:cNvSpPr>
          <p:nvPr>
            <p:ph type="body"/>
          </p:nvPr>
        </p:nvSpPr>
        <p:spPr>
          <a:xfrm>
            <a:off x="685800" y="4400640"/>
            <a:ext cx="5486040" cy="3600000"/>
          </a:xfrm>
          <a:prstGeom prst="rect">
            <a:avLst/>
          </a:prstGeom>
        </p:spPr>
        <p:txBody>
          <a:bodyPr/>
          <a:lstStyle/>
          <a:p>
            <a:endParaRPr lang="en-GB" sz="2000" b="0" strike="noStrike" spc="-1">
              <a:latin typeface="Arial"/>
            </a:endParaRPr>
          </a:p>
        </p:txBody>
      </p:sp>
      <p:sp>
        <p:nvSpPr>
          <p:cNvPr id="280" name="TextShape 3"/>
          <p:cNvSpPr txBox="1"/>
          <p:nvPr/>
        </p:nvSpPr>
        <p:spPr>
          <a:xfrm>
            <a:off x="3884760" y="8685360"/>
            <a:ext cx="2971440" cy="458280"/>
          </a:xfrm>
          <a:prstGeom prst="rect">
            <a:avLst/>
          </a:prstGeom>
          <a:noFill/>
          <a:ln>
            <a:noFill/>
          </a:ln>
        </p:spPr>
        <p:txBody>
          <a:bodyPr anchor="b"/>
          <a:lstStyle/>
          <a:p>
            <a:pPr algn="r">
              <a:lnSpc>
                <a:spcPct val="100000"/>
              </a:lnSpc>
            </a:pPr>
            <a:fld id="{F37221E2-3C0D-41B6-A6C6-C914CC3FBF93}" type="slidenum">
              <a:rPr lang="en-GB" sz="1700" b="0" strike="noStrike" spc="-1">
                <a:solidFill>
                  <a:srgbClr val="000000"/>
                </a:solidFill>
                <a:latin typeface="Calibri"/>
                <a:ea typeface="+mn-ea"/>
              </a:rPr>
              <a:t>13</a:t>
            </a:fld>
            <a:endParaRPr lang="en-GB" sz="17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47"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4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5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5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5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5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5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6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6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6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6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6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6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6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6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7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7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7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7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7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7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7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7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8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8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88"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9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9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9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9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0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0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0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0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0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0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0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1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1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2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2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2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29"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3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3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3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GB"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3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3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4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4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4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4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4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4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4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5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5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5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5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5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5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p:spPr>
        <p:txBody>
          <a:bodyPr lIns="0" tIns="0" rIns="0" bIns="0" anchor="ctr"/>
          <a:lstStyle/>
          <a:p>
            <a:endParaRPr lang="fr-FR" sz="1800" b="0" strike="noStrike" spc="-1">
              <a:solidFill>
                <a:srgbClr val="000000"/>
              </a:solidFill>
              <a:latin typeface="Calibri"/>
            </a:endParaRPr>
          </a:p>
        </p:txBody>
      </p:sp>
      <p:sp>
        <p:nvSpPr>
          <p:cNvPr id="15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5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6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6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6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
        <p:nvSpPr>
          <p:cNvPr id="16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fr-FR" sz="4400" b="0" strike="noStrike" spc="-1">
                <a:solidFill>
                  <a:srgbClr val="000000"/>
                </a:solidFill>
                <a:latin typeface="Calibri Light"/>
              </a:rPr>
              <a:t>Click to edit Master title style</a:t>
            </a:r>
            <a:endParaRPr lang="fr-FR" sz="4400" b="0" strike="noStrike" spc="-1">
              <a:solidFill>
                <a:srgbClr val="000000"/>
              </a:solidFill>
              <a:latin typeface="Calibri"/>
            </a:endParaRPr>
          </a:p>
        </p:txBody>
      </p:sp>
      <p:sp>
        <p:nvSpPr>
          <p:cNvPr id="6" name="PlaceHolder 2"/>
          <p:cNvSpPr>
            <a:spLocks noGrp="1"/>
          </p:cNvSpPr>
          <p:nvPr>
            <p:ph type="body"/>
          </p:nvPr>
        </p:nvSpPr>
        <p:spPr>
          <a:xfrm>
            <a:off x="838080" y="1825560"/>
            <a:ext cx="10515240" cy="4350960"/>
          </a:xfrm>
          <a:prstGeom prst="rect">
            <a:avLst/>
          </a:prstGeom>
        </p:spPr>
        <p:txBody>
          <a:bodyPr/>
          <a:lstStyle/>
          <a:p>
            <a:pPr marL="228600" indent="-228240">
              <a:lnSpc>
                <a:spcPct val="90000"/>
              </a:lnSpc>
              <a:spcBef>
                <a:spcPts val="1001"/>
              </a:spcBef>
              <a:buClr>
                <a:srgbClr val="000000"/>
              </a:buClr>
              <a:buFont typeface="Arial"/>
              <a:buChar char="•"/>
            </a:pPr>
            <a:r>
              <a:rPr lang="fr-FR"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fr-FR"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fr-FR"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fr-FR"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fr-FR" sz="1800" b="0" strike="noStrike" spc="-1">
                <a:solidFill>
                  <a:srgbClr val="000000"/>
                </a:solidFill>
                <a:latin typeface="Calibri"/>
              </a:rPr>
              <a:t>Fifth level</a:t>
            </a:r>
          </a:p>
        </p:txBody>
      </p:sp>
      <p:sp>
        <p:nvSpPr>
          <p:cNvPr id="2" name="PlaceHolder 3"/>
          <p:cNvSpPr>
            <a:spLocks noGrp="1"/>
          </p:cNvSpPr>
          <p:nvPr>
            <p:ph type="dt"/>
          </p:nvPr>
        </p:nvSpPr>
        <p:spPr>
          <a:xfrm>
            <a:off x="838080" y="6356520"/>
            <a:ext cx="2742840" cy="364680"/>
          </a:xfrm>
          <a:prstGeom prst="rect">
            <a:avLst/>
          </a:prstGeom>
        </p:spPr>
        <p:txBody>
          <a:bodyPr anchor="ctr"/>
          <a:lstStyle/>
          <a:p>
            <a:pPr>
              <a:lnSpc>
                <a:spcPct val="100000"/>
              </a:lnSpc>
            </a:pPr>
            <a:fld id="{0BB92EEF-6DAE-4680-B306-1B2D7CBE8584}" type="datetime">
              <a:rPr lang="en-GB" sz="1200" b="0" strike="noStrike" spc="-1">
                <a:solidFill>
                  <a:srgbClr val="8B8B8B"/>
                </a:solidFill>
                <a:latin typeface="Calibri"/>
              </a:rPr>
              <a:t>20/11/2020</a:t>
            </a:fld>
            <a:endParaRPr lang="en-GB" sz="1200" b="0" strike="noStrike" spc="-1">
              <a:latin typeface="Times New Roman"/>
            </a:endParaRPr>
          </a:p>
        </p:txBody>
      </p:sp>
      <p:sp>
        <p:nvSpPr>
          <p:cNvPr id="3" name="PlaceHolder 4"/>
          <p:cNvSpPr>
            <a:spLocks noGrp="1"/>
          </p:cNvSpPr>
          <p:nvPr>
            <p:ph type="ftr"/>
          </p:nvPr>
        </p:nvSpPr>
        <p:spPr>
          <a:xfrm>
            <a:off x="4038480" y="6356520"/>
            <a:ext cx="4114440" cy="364680"/>
          </a:xfrm>
          <a:prstGeom prst="rect">
            <a:avLst/>
          </a:prstGeom>
        </p:spPr>
        <p:txBody>
          <a:bodyPr anchor="ctr"/>
          <a:lstStyle/>
          <a:p>
            <a:endParaRPr lang="en-GB" sz="2400" b="0" strike="noStrike" spc="-1">
              <a:latin typeface="Times New Roman"/>
            </a:endParaRPr>
          </a:p>
        </p:txBody>
      </p:sp>
      <p:sp>
        <p:nvSpPr>
          <p:cNvPr id="4"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D6FD8B86-2ACB-48ED-BC16-8D0032116882}" type="slidenum">
              <a:rPr lang="en-GB" sz="1200" b="0" strike="noStrike" spc="-1">
                <a:solidFill>
                  <a:srgbClr val="8B8B8B"/>
                </a:solidFill>
                <a:latin typeface="Calibri"/>
              </a:r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fr-FR" sz="4400" b="0" strike="noStrike" spc="-1">
                <a:solidFill>
                  <a:srgbClr val="000000"/>
                </a:solidFill>
                <a:latin typeface="Calibri Light"/>
              </a:rPr>
              <a:t>Click to edit Master title style</a:t>
            </a:r>
            <a:endParaRPr lang="fr-FR" sz="4400" b="0" strike="noStrike" spc="-1">
              <a:solidFill>
                <a:srgbClr val="000000"/>
              </a:solidFill>
              <a:latin typeface="Calibri"/>
            </a:endParaRPr>
          </a:p>
        </p:txBody>
      </p:sp>
      <p:sp>
        <p:nvSpPr>
          <p:cNvPr id="42" name="PlaceHolder 2"/>
          <p:cNvSpPr>
            <a:spLocks noGrp="1"/>
          </p:cNvSpPr>
          <p:nvPr>
            <p:ph type="dt"/>
          </p:nvPr>
        </p:nvSpPr>
        <p:spPr>
          <a:xfrm>
            <a:off x="838080" y="6356520"/>
            <a:ext cx="2742840" cy="364680"/>
          </a:xfrm>
          <a:prstGeom prst="rect">
            <a:avLst/>
          </a:prstGeom>
        </p:spPr>
        <p:txBody>
          <a:bodyPr anchor="ctr"/>
          <a:lstStyle/>
          <a:p>
            <a:pPr>
              <a:lnSpc>
                <a:spcPct val="100000"/>
              </a:lnSpc>
            </a:pPr>
            <a:fld id="{20772F98-0DC1-471D-90FD-633354BF0CC2}" type="datetime">
              <a:rPr lang="en-GB" sz="1200" b="0" strike="noStrike" spc="-1">
                <a:solidFill>
                  <a:srgbClr val="8B8B8B"/>
                </a:solidFill>
                <a:latin typeface="Calibri"/>
              </a:rPr>
              <a:t>20/11/2020</a:t>
            </a:fld>
            <a:endParaRPr lang="en-GB" sz="1200" b="0" strike="noStrike" spc="-1">
              <a:latin typeface="Times New Roman"/>
            </a:endParaRPr>
          </a:p>
        </p:txBody>
      </p:sp>
      <p:sp>
        <p:nvSpPr>
          <p:cNvPr id="43" name="PlaceHolder 3"/>
          <p:cNvSpPr>
            <a:spLocks noGrp="1"/>
          </p:cNvSpPr>
          <p:nvPr>
            <p:ph type="ftr"/>
          </p:nvPr>
        </p:nvSpPr>
        <p:spPr>
          <a:xfrm>
            <a:off x="4038480" y="6356520"/>
            <a:ext cx="4114440" cy="364680"/>
          </a:xfrm>
          <a:prstGeom prst="rect">
            <a:avLst/>
          </a:prstGeom>
        </p:spPr>
        <p:txBody>
          <a:bodyPr anchor="ctr"/>
          <a:lstStyle/>
          <a:p>
            <a:endParaRPr lang="en-GB" sz="2400" b="0" strike="noStrike" spc="-1">
              <a:latin typeface="Times New Roman"/>
            </a:endParaRPr>
          </a:p>
        </p:txBody>
      </p:sp>
      <p:sp>
        <p:nvSpPr>
          <p:cNvPr id="44"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F6AA390A-FFB4-4987-8D3F-610FD4654DEB}" type="slidenum">
              <a:rPr lang="en-GB" sz="1200" b="0" strike="noStrike" spc="-1">
                <a:solidFill>
                  <a:srgbClr val="8B8B8B"/>
                </a:solidFill>
                <a:latin typeface="Calibri"/>
              </a:rPr>
              <a:t>‹#›</a:t>
            </a:fld>
            <a:endParaRPr lang="en-GB" sz="1200" b="0" strike="noStrike" spc="-1">
              <a:latin typeface="Times New Roman"/>
            </a:endParaRPr>
          </a:p>
        </p:txBody>
      </p:sp>
      <p:sp>
        <p:nvSpPr>
          <p:cNvPr id="45"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fr-FR"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fr-FR"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dt"/>
          </p:nvPr>
        </p:nvSpPr>
        <p:spPr>
          <a:xfrm>
            <a:off x="838080" y="6356520"/>
            <a:ext cx="2742840" cy="364680"/>
          </a:xfrm>
          <a:prstGeom prst="rect">
            <a:avLst/>
          </a:prstGeom>
        </p:spPr>
        <p:txBody>
          <a:bodyPr anchor="ctr"/>
          <a:lstStyle/>
          <a:p>
            <a:pPr>
              <a:lnSpc>
                <a:spcPct val="100000"/>
              </a:lnSpc>
            </a:pPr>
            <a:fld id="{70319648-FA27-46AC-9703-9F64D3A28A84}" type="datetime">
              <a:rPr lang="en-GB" sz="1200" b="0" strike="noStrike" spc="-1">
                <a:solidFill>
                  <a:srgbClr val="8B8B8B"/>
                </a:solidFill>
                <a:latin typeface="Calibri"/>
              </a:rPr>
              <a:t>20/11/2020</a:t>
            </a:fld>
            <a:endParaRPr lang="en-GB" sz="1200" b="0" strike="noStrike" spc="-1">
              <a:latin typeface="Times New Roman"/>
            </a:endParaRPr>
          </a:p>
        </p:txBody>
      </p:sp>
      <p:sp>
        <p:nvSpPr>
          <p:cNvPr id="83" name="PlaceHolder 2"/>
          <p:cNvSpPr>
            <a:spLocks noGrp="1"/>
          </p:cNvSpPr>
          <p:nvPr>
            <p:ph type="ftr"/>
          </p:nvPr>
        </p:nvSpPr>
        <p:spPr>
          <a:xfrm>
            <a:off x="4038480" y="6356520"/>
            <a:ext cx="4114440" cy="364680"/>
          </a:xfrm>
          <a:prstGeom prst="rect">
            <a:avLst/>
          </a:prstGeom>
        </p:spPr>
        <p:txBody>
          <a:bodyPr anchor="ctr"/>
          <a:lstStyle/>
          <a:p>
            <a:endParaRPr lang="en-GB" sz="2400" b="0" strike="noStrike" spc="-1">
              <a:latin typeface="Times New Roman"/>
            </a:endParaRPr>
          </a:p>
        </p:txBody>
      </p:sp>
      <p:sp>
        <p:nvSpPr>
          <p:cNvPr id="84" name="PlaceHolder 3"/>
          <p:cNvSpPr>
            <a:spLocks noGrp="1"/>
          </p:cNvSpPr>
          <p:nvPr>
            <p:ph type="sldNum"/>
          </p:nvPr>
        </p:nvSpPr>
        <p:spPr>
          <a:xfrm>
            <a:off x="8610480" y="6356520"/>
            <a:ext cx="2742840" cy="364680"/>
          </a:xfrm>
          <a:prstGeom prst="rect">
            <a:avLst/>
          </a:prstGeom>
        </p:spPr>
        <p:txBody>
          <a:bodyPr anchor="ctr"/>
          <a:lstStyle/>
          <a:p>
            <a:pPr algn="r">
              <a:lnSpc>
                <a:spcPct val="100000"/>
              </a:lnSpc>
            </a:pPr>
            <a:fld id="{665BD45A-B0AE-4FFF-8E36-4255B272E5BD}" type="slidenum">
              <a:rPr lang="en-GB" sz="1200" b="0" strike="noStrike" spc="-1">
                <a:solidFill>
                  <a:srgbClr val="8B8B8B"/>
                </a:solidFill>
                <a:latin typeface="Calibri"/>
              </a:rPr>
              <a:t>‹#›</a:t>
            </a:fld>
            <a:endParaRPr lang="en-GB" sz="1200" b="0" strike="noStrike" spc="-1">
              <a:latin typeface="Times New Roman"/>
            </a:endParaRPr>
          </a:p>
        </p:txBody>
      </p:sp>
      <p:sp>
        <p:nvSpPr>
          <p:cNvPr id="85" name="PlaceHolder 4"/>
          <p:cNvSpPr>
            <a:spLocks noGrp="1"/>
          </p:cNvSpPr>
          <p:nvPr>
            <p:ph type="title"/>
          </p:nvPr>
        </p:nvSpPr>
        <p:spPr>
          <a:xfrm>
            <a:off x="609480" y="273600"/>
            <a:ext cx="10972440" cy="1144800"/>
          </a:xfrm>
          <a:prstGeom prst="rect">
            <a:avLst/>
          </a:prstGeom>
        </p:spPr>
        <p:txBody>
          <a:bodyPr lIns="0" tIns="0" rIns="0" bIns="0" anchor="ctr"/>
          <a:lstStyle/>
          <a:p>
            <a:r>
              <a:rPr lang="fr-FR" sz="1800" b="0" strike="noStrike" spc="-1">
                <a:solidFill>
                  <a:srgbClr val="000000"/>
                </a:solidFill>
                <a:latin typeface="Calibri"/>
              </a:rPr>
              <a:t>Click to edit the title text format</a:t>
            </a:r>
          </a:p>
        </p:txBody>
      </p:sp>
      <p:sp>
        <p:nvSpPr>
          <p:cNvPr id="8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fr-FR"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fr-FR"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1523880" y="1122480"/>
            <a:ext cx="9143640" cy="2387160"/>
          </a:xfrm>
          <a:prstGeom prst="rect">
            <a:avLst/>
          </a:prstGeom>
        </p:spPr>
        <p:txBody>
          <a:bodyPr anchor="b"/>
          <a:lstStyle/>
          <a:p>
            <a:pPr algn="ctr">
              <a:lnSpc>
                <a:spcPct val="90000"/>
              </a:lnSpc>
            </a:pPr>
            <a:r>
              <a:rPr lang="fr-FR" sz="6000" b="0" strike="noStrike" spc="-1">
                <a:solidFill>
                  <a:srgbClr val="000000"/>
                </a:solidFill>
                <a:latin typeface="Calibri Light"/>
              </a:rPr>
              <a:t>Click to edit Master title style</a:t>
            </a:r>
            <a:endParaRPr lang="fr-FR" sz="6000" b="0" strike="noStrike" spc="-1">
              <a:solidFill>
                <a:srgbClr val="000000"/>
              </a:solidFill>
              <a:latin typeface="Calibri"/>
            </a:endParaRPr>
          </a:p>
        </p:txBody>
      </p:sp>
      <p:sp>
        <p:nvSpPr>
          <p:cNvPr id="124" name="PlaceHolder 2"/>
          <p:cNvSpPr>
            <a:spLocks noGrp="1"/>
          </p:cNvSpPr>
          <p:nvPr>
            <p:ph type="dt"/>
          </p:nvPr>
        </p:nvSpPr>
        <p:spPr>
          <a:xfrm>
            <a:off x="838080" y="6356520"/>
            <a:ext cx="2742840" cy="364680"/>
          </a:xfrm>
          <a:prstGeom prst="rect">
            <a:avLst/>
          </a:prstGeom>
        </p:spPr>
        <p:txBody>
          <a:bodyPr anchor="ctr"/>
          <a:lstStyle/>
          <a:p>
            <a:pPr>
              <a:lnSpc>
                <a:spcPct val="100000"/>
              </a:lnSpc>
            </a:pPr>
            <a:fld id="{363474FB-514A-4A52-96E1-915D4ED361D1}" type="datetime">
              <a:rPr lang="en-GB" sz="1200" b="0" strike="noStrike" spc="-1">
                <a:solidFill>
                  <a:srgbClr val="8B8B8B"/>
                </a:solidFill>
                <a:latin typeface="Calibri"/>
              </a:rPr>
              <a:t>20/11/2020</a:t>
            </a:fld>
            <a:endParaRPr lang="en-GB" sz="1200" b="0" strike="noStrike" spc="-1">
              <a:latin typeface="Times New Roman"/>
            </a:endParaRPr>
          </a:p>
        </p:txBody>
      </p:sp>
      <p:sp>
        <p:nvSpPr>
          <p:cNvPr id="125" name="PlaceHolder 3"/>
          <p:cNvSpPr>
            <a:spLocks noGrp="1"/>
          </p:cNvSpPr>
          <p:nvPr>
            <p:ph type="ftr"/>
          </p:nvPr>
        </p:nvSpPr>
        <p:spPr>
          <a:xfrm>
            <a:off x="4038480" y="6356520"/>
            <a:ext cx="4114440" cy="364680"/>
          </a:xfrm>
          <a:prstGeom prst="rect">
            <a:avLst/>
          </a:prstGeom>
        </p:spPr>
        <p:txBody>
          <a:bodyPr anchor="ctr"/>
          <a:lstStyle/>
          <a:p>
            <a:endParaRPr lang="en-GB" sz="2400" b="0" strike="noStrike" spc="-1">
              <a:latin typeface="Times New Roman"/>
            </a:endParaRPr>
          </a:p>
        </p:txBody>
      </p:sp>
      <p:sp>
        <p:nvSpPr>
          <p:cNvPr id="126"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D1076E28-D9D2-4AD9-8E34-2874D60A6812}" type="slidenum">
              <a:rPr lang="en-GB" sz="1200" b="0" strike="noStrike" spc="-1">
                <a:solidFill>
                  <a:srgbClr val="8B8B8B"/>
                </a:solidFill>
                <a:latin typeface="Calibri"/>
              </a:rPr>
              <a:t>‹#›</a:t>
            </a:fld>
            <a:endParaRPr lang="en-GB" sz="1200" b="0" strike="noStrike" spc="-1">
              <a:latin typeface="Times New Roman"/>
            </a:endParaRPr>
          </a:p>
        </p:txBody>
      </p:sp>
      <p:sp>
        <p:nvSpPr>
          <p:cNvPr id="127"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fr-FR"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fr-FR"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oao.ramalho@rdor.nestle.com"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joao.ramalho@rdor.nestle.com" TargetMode="External"/><Relationship Id="rId7"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5.xml"/><Relationship Id="rId4" Type="http://schemas.openxmlformats.org/officeDocument/2006/relationships/hyperlink" Target="mailto:joao.ramalho@rdor.nestle.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hyperlink" Target="mailto:joao.ramalho@rdor.nestle.com"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hyperlink" Target="mailto:joao.ramalho@rdor.nestle.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38.xml"/><Relationship Id="rId4" Type="http://schemas.openxmlformats.org/officeDocument/2006/relationships/hyperlink" Target="mailto:joao.ramalho@rdor.nestle.com"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mailto:joao.ramalho@rdor.nestle.com" TargetMode="Externa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hyperlink" Target="mailto:joao.ramalho@rdor.nestle.com" TargetMode="Externa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mailto:joao.ramalho@rdor.nestle.com" TargetMode="Externa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 name="CustomShape 1"/>
          <p:cNvSpPr/>
          <p:nvPr/>
        </p:nvSpPr>
        <p:spPr>
          <a:xfrm>
            <a:off x="0" y="0"/>
            <a:ext cx="1219176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71" name="TextShape 2"/>
          <p:cNvSpPr txBox="1"/>
          <p:nvPr/>
        </p:nvSpPr>
        <p:spPr>
          <a:xfrm>
            <a:off x="589680" y="856080"/>
            <a:ext cx="4560120" cy="1127880"/>
          </a:xfrm>
          <a:prstGeom prst="rect">
            <a:avLst/>
          </a:prstGeom>
          <a:noFill/>
          <a:ln>
            <a:noFill/>
          </a:ln>
        </p:spPr>
        <p:txBody>
          <a:bodyPr anchor="ctr">
            <a:normAutofit/>
          </a:bodyPr>
          <a:lstStyle/>
          <a:p>
            <a:pPr>
              <a:lnSpc>
                <a:spcPct val="90000"/>
              </a:lnSpc>
            </a:pPr>
            <a:r>
              <a:rPr lang="fr-FR" sz="4000" b="1" strike="noStrike" spc="-1">
                <a:solidFill>
                  <a:srgbClr val="000000"/>
                </a:solidFill>
                <a:latin typeface="Calibri Light"/>
              </a:rPr>
              <a:t>Tri-Risk</a:t>
            </a:r>
            <a:endParaRPr lang="fr-FR" sz="4000" b="0" strike="noStrike" spc="-1">
              <a:solidFill>
                <a:srgbClr val="000000"/>
              </a:solidFill>
              <a:latin typeface="Calibri"/>
            </a:endParaRPr>
          </a:p>
        </p:txBody>
      </p:sp>
      <p:grpSp>
        <p:nvGrpSpPr>
          <p:cNvPr id="172" name="Group 3"/>
          <p:cNvGrpSpPr/>
          <p:nvPr/>
        </p:nvGrpSpPr>
        <p:grpSpPr>
          <a:xfrm>
            <a:off x="0" y="1083600"/>
            <a:ext cx="354960" cy="673200"/>
            <a:chOff x="0" y="1083600"/>
            <a:chExt cx="354960" cy="673200"/>
          </a:xfrm>
        </p:grpSpPr>
        <p:sp>
          <p:nvSpPr>
            <p:cNvPr id="173" name="CustomShape 4"/>
            <p:cNvSpPr/>
            <p:nvPr/>
          </p:nvSpPr>
          <p:spPr>
            <a:xfrm>
              <a:off x="0" y="1083600"/>
              <a:ext cx="8712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74" name="CustomShape 5"/>
            <p:cNvSpPr/>
            <p:nvPr/>
          </p:nvSpPr>
          <p:spPr>
            <a:xfrm>
              <a:off x="159480" y="1083600"/>
              <a:ext cx="19548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sp>
        <p:nvSpPr>
          <p:cNvPr id="175" name="CustomShape 6"/>
          <p:cNvSpPr/>
          <p:nvPr/>
        </p:nvSpPr>
        <p:spPr>
          <a:xfrm flipH="1">
            <a:off x="664200" y="2090520"/>
            <a:ext cx="4297320" cy="2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76" name="CustomShape 7"/>
          <p:cNvSpPr/>
          <p:nvPr/>
        </p:nvSpPr>
        <p:spPr>
          <a:xfrm>
            <a:off x="590760" y="2330640"/>
            <a:ext cx="4559040" cy="39790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nSpc>
                <a:spcPct val="90000"/>
              </a:lnSpc>
              <a:spcAft>
                <a:spcPts val="601"/>
              </a:spcAft>
            </a:pPr>
            <a:r>
              <a:rPr lang="en-GB" sz="2800" b="0" strike="noStrike" spc="-1">
                <a:solidFill>
                  <a:srgbClr val="000000"/>
                </a:solidFill>
                <a:latin typeface="Calibri"/>
              </a:rPr>
              <a:t>Vers une économie circulaire</a:t>
            </a:r>
            <a:endParaRPr lang="en-GB" sz="2800" b="0" strike="noStrike" spc="-1">
              <a:latin typeface="Arial"/>
            </a:endParaRPr>
          </a:p>
        </p:txBody>
      </p:sp>
      <p:sp>
        <p:nvSpPr>
          <p:cNvPr id="177" name="CustomShape 8"/>
          <p:cNvSpPr/>
          <p:nvPr/>
        </p:nvSpPr>
        <p:spPr>
          <a:xfrm flipH="1">
            <a:off x="10697760" y="0"/>
            <a:ext cx="1494000" cy="6857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78" name="CustomShape 9"/>
          <p:cNvSpPr/>
          <p:nvPr/>
        </p:nvSpPr>
        <p:spPr>
          <a:xfrm>
            <a:off x="5685840" y="513720"/>
            <a:ext cx="6009120" cy="5834160"/>
          </a:xfrm>
          <a:prstGeom prst="rect">
            <a:avLst/>
          </a:prstGeom>
          <a:solidFill>
            <a:schemeClr val="bg1"/>
          </a:solidFill>
          <a:ln>
            <a:noFill/>
          </a:ln>
          <a:effectLst>
            <a:outerShdw blurRad="139700" dist="127000" dir="540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p:style>
      </p:sp>
      <p:pic>
        <p:nvPicPr>
          <p:cNvPr id="179" name="Picture 6"/>
          <p:cNvPicPr/>
          <p:nvPr/>
        </p:nvPicPr>
        <p:blipFill>
          <a:blip r:embed="rId2"/>
          <a:srcRect l="8588" r="30289"/>
          <a:stretch/>
        </p:blipFill>
        <p:spPr>
          <a:xfrm>
            <a:off x="5977800" y="799200"/>
            <a:ext cx="5425200" cy="52588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 name="CustomShape 1"/>
          <p:cNvSpPr/>
          <p:nvPr/>
        </p:nvSpPr>
        <p:spPr>
          <a:xfrm>
            <a:off x="0" y="0"/>
            <a:ext cx="1219176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81" name="TextShape 2"/>
          <p:cNvSpPr txBox="1"/>
          <p:nvPr/>
        </p:nvSpPr>
        <p:spPr>
          <a:xfrm>
            <a:off x="589680" y="856080"/>
            <a:ext cx="4560120" cy="1127880"/>
          </a:xfrm>
          <a:prstGeom prst="rect">
            <a:avLst/>
          </a:prstGeom>
          <a:noFill/>
          <a:ln>
            <a:noFill/>
          </a:ln>
        </p:spPr>
        <p:txBody>
          <a:bodyPr anchor="ctr">
            <a:normAutofit/>
          </a:bodyPr>
          <a:lstStyle/>
          <a:p>
            <a:pPr>
              <a:lnSpc>
                <a:spcPct val="90000"/>
              </a:lnSpc>
            </a:pPr>
            <a:r>
              <a:rPr lang="fr-FR" sz="4000" b="0" strike="noStrike" spc="-1">
                <a:solidFill>
                  <a:srgbClr val="000000"/>
                </a:solidFill>
                <a:latin typeface="Calibri Light"/>
              </a:rPr>
              <a:t>Objectif</a:t>
            </a:r>
            <a:endParaRPr lang="fr-FR" sz="4000" b="0" strike="noStrike" spc="-1">
              <a:solidFill>
                <a:srgbClr val="000000"/>
              </a:solidFill>
              <a:latin typeface="Calibri"/>
            </a:endParaRPr>
          </a:p>
        </p:txBody>
      </p:sp>
      <p:grpSp>
        <p:nvGrpSpPr>
          <p:cNvPr id="182" name="Group 3"/>
          <p:cNvGrpSpPr/>
          <p:nvPr/>
        </p:nvGrpSpPr>
        <p:grpSpPr>
          <a:xfrm>
            <a:off x="0" y="1083600"/>
            <a:ext cx="354960" cy="673200"/>
            <a:chOff x="0" y="1083600"/>
            <a:chExt cx="354960" cy="673200"/>
          </a:xfrm>
        </p:grpSpPr>
        <p:sp>
          <p:nvSpPr>
            <p:cNvPr id="183" name="CustomShape 4"/>
            <p:cNvSpPr/>
            <p:nvPr/>
          </p:nvSpPr>
          <p:spPr>
            <a:xfrm>
              <a:off x="0" y="1083600"/>
              <a:ext cx="8712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84" name="CustomShape 5"/>
            <p:cNvSpPr/>
            <p:nvPr/>
          </p:nvSpPr>
          <p:spPr>
            <a:xfrm>
              <a:off x="159480" y="1083600"/>
              <a:ext cx="19548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sp>
        <p:nvSpPr>
          <p:cNvPr id="185" name="CustomShape 6"/>
          <p:cNvSpPr/>
          <p:nvPr/>
        </p:nvSpPr>
        <p:spPr>
          <a:xfrm flipH="1">
            <a:off x="664200" y="2090520"/>
            <a:ext cx="4297320" cy="2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86" name="TextShape 7"/>
          <p:cNvSpPr txBox="1"/>
          <p:nvPr/>
        </p:nvSpPr>
        <p:spPr>
          <a:xfrm>
            <a:off x="590760" y="2330640"/>
            <a:ext cx="4559040" cy="3979080"/>
          </a:xfrm>
          <a:prstGeom prst="rect">
            <a:avLst/>
          </a:prstGeom>
          <a:noFill/>
          <a:ln>
            <a:noFill/>
          </a:ln>
        </p:spPr>
        <p:txBody>
          <a:bodyPr anchor="ctr">
            <a:normAutofit/>
          </a:bodyPr>
          <a:lstStyle/>
          <a:p>
            <a:pPr>
              <a:lnSpc>
                <a:spcPct val="90000"/>
              </a:lnSpc>
              <a:spcBef>
                <a:spcPts val="1001"/>
              </a:spcBef>
            </a:pPr>
            <a:r>
              <a:rPr lang="fr-FR" sz="2400" b="0" strike="noStrike" spc="-1">
                <a:solidFill>
                  <a:srgbClr val="000000"/>
                </a:solidFill>
                <a:latin typeface="Calibri"/>
              </a:rPr>
              <a:t>Permettre aux acteurs du recyclage en Suisse la mutualization et la maximization de leurs efforts dans un context d’augmentation exponentielle de la quantité de déchets et de la reduction des émissions de CO2.</a:t>
            </a:r>
          </a:p>
        </p:txBody>
      </p:sp>
      <p:sp>
        <p:nvSpPr>
          <p:cNvPr id="187" name="CustomShape 8"/>
          <p:cNvSpPr/>
          <p:nvPr/>
        </p:nvSpPr>
        <p:spPr>
          <a:xfrm flipH="1">
            <a:off x="10697760" y="0"/>
            <a:ext cx="1494000" cy="6857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188" name="CustomShape 9"/>
          <p:cNvSpPr/>
          <p:nvPr/>
        </p:nvSpPr>
        <p:spPr>
          <a:xfrm>
            <a:off x="5685840" y="513720"/>
            <a:ext cx="6009120" cy="5834160"/>
          </a:xfrm>
          <a:prstGeom prst="rect">
            <a:avLst/>
          </a:prstGeom>
          <a:solidFill>
            <a:schemeClr val="bg1"/>
          </a:solidFill>
          <a:ln>
            <a:noFill/>
          </a:ln>
          <a:effectLst>
            <a:outerShdw blurRad="139700" dist="127000" dir="540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p:style>
      </p:sp>
      <p:pic>
        <p:nvPicPr>
          <p:cNvPr id="189" name="Picture 6"/>
          <p:cNvPicPr/>
          <p:nvPr/>
        </p:nvPicPr>
        <p:blipFill>
          <a:blip r:embed="rId2"/>
          <a:srcRect t="4788" b="16207"/>
          <a:stretch/>
        </p:blipFill>
        <p:spPr>
          <a:xfrm>
            <a:off x="5977800" y="799200"/>
            <a:ext cx="5425200" cy="5258880"/>
          </a:xfrm>
          <a:prstGeom prst="rect">
            <a:avLst/>
          </a:prstGeom>
          <a:ln>
            <a:noFill/>
          </a:ln>
        </p:spPr>
      </p:pic>
      <p:sp>
        <p:nvSpPr>
          <p:cNvPr id="190" name="CustomShape 10"/>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3"/>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Picture 2"/>
          <p:cNvPicPr/>
          <p:nvPr/>
        </p:nvPicPr>
        <p:blipFill>
          <a:blip r:embed="rId2"/>
          <a:stretch/>
        </p:blipFill>
        <p:spPr>
          <a:xfrm>
            <a:off x="3114720" y="5056200"/>
            <a:ext cx="850680" cy="1240920"/>
          </a:xfrm>
          <a:prstGeom prst="rect">
            <a:avLst/>
          </a:prstGeom>
          <a:ln>
            <a:noFill/>
          </a:ln>
        </p:spPr>
      </p:pic>
      <p:grpSp>
        <p:nvGrpSpPr>
          <p:cNvPr id="192" name="Group 1"/>
          <p:cNvGrpSpPr/>
          <p:nvPr/>
        </p:nvGrpSpPr>
        <p:grpSpPr>
          <a:xfrm>
            <a:off x="3386520" y="1527120"/>
            <a:ext cx="4774320" cy="4126320"/>
            <a:chOff x="3386520" y="1527120"/>
            <a:chExt cx="4774320" cy="4126320"/>
          </a:xfrm>
        </p:grpSpPr>
        <p:sp>
          <p:nvSpPr>
            <p:cNvPr id="193" name="CustomShape 2"/>
            <p:cNvSpPr/>
            <p:nvPr/>
          </p:nvSpPr>
          <p:spPr>
            <a:xfrm>
              <a:off x="5085720" y="1527120"/>
              <a:ext cx="1375560" cy="893880"/>
            </a:xfrm>
            <a:prstGeom prst="roundRect">
              <a:avLst>
                <a:gd name="adj" fmla="val 16667"/>
              </a:avLst>
            </a:prstGeom>
            <a:solidFill>
              <a:schemeClr val="accent2">
                <a:hueOff val="0"/>
                <a:satOff val="0"/>
                <a:lumOff val="0"/>
                <a:alphaOff val="0"/>
              </a:schemeClr>
            </a:solidFill>
            <a:ln>
              <a:solidFill>
                <a:schemeClr val="lt1">
                  <a:hueOff val="0"/>
                  <a:satOff val="0"/>
                  <a:lumOff val="0"/>
                  <a:alphaOff val="0"/>
                </a:schemeClr>
              </a:solidFill>
            </a:ln>
          </p:spPr>
          <p:style>
            <a:lnRef idx="2">
              <a:scrgbClr r="0" g="0" b="0"/>
            </a:lnRef>
            <a:fillRef idx="0">
              <a:scrgbClr r="0" g="0" b="0"/>
            </a:fillRef>
            <a:effectRef idx="0">
              <a:scrgbClr r="0" g="0" b="0"/>
            </a:effectRef>
            <a:fontRef idx="minor"/>
          </p:style>
          <p:txBody>
            <a:bodyPr lIns="96840" tIns="96840" rIns="53280" bIns="97200" anchor="ctr"/>
            <a:lstStyle/>
            <a:p>
              <a:pPr algn="ctr">
                <a:lnSpc>
                  <a:spcPct val="90000"/>
                </a:lnSpc>
                <a:spcAft>
                  <a:spcPts val="490"/>
                </a:spcAft>
              </a:pPr>
              <a:r>
                <a:rPr lang="en-GB" sz="1400" b="0" strike="noStrike" spc="-1">
                  <a:solidFill>
                    <a:srgbClr val="FFFFFF"/>
                  </a:solidFill>
                  <a:latin typeface="Calibri"/>
                </a:rPr>
                <a:t>1.</a:t>
              </a:r>
              <a:endParaRPr lang="en-GB" sz="1400" b="0" strike="noStrike" spc="-1">
                <a:latin typeface="Arial"/>
              </a:endParaRPr>
            </a:p>
            <a:p>
              <a:pPr algn="ctr">
                <a:lnSpc>
                  <a:spcPct val="90000"/>
                </a:lnSpc>
                <a:spcAft>
                  <a:spcPts val="490"/>
                </a:spcAft>
              </a:pPr>
              <a:r>
                <a:rPr lang="en-GB" sz="1400" b="0" strike="noStrike" spc="-1">
                  <a:solidFill>
                    <a:srgbClr val="FFFFFF"/>
                  </a:solidFill>
                  <a:latin typeface="Calibri"/>
                </a:rPr>
                <a:t>Identifier les risques</a:t>
              </a:r>
              <a:endParaRPr lang="en-GB" sz="1400" b="0" strike="noStrike" spc="-1">
                <a:latin typeface="Arial"/>
              </a:endParaRPr>
            </a:p>
          </p:txBody>
        </p:sp>
        <p:sp>
          <p:nvSpPr>
            <p:cNvPr id="194" name="CustomShape 3"/>
            <p:cNvSpPr/>
            <p:nvPr/>
          </p:nvSpPr>
          <p:spPr>
            <a:xfrm>
              <a:off x="3987000" y="1974240"/>
              <a:ext cx="3573360" cy="3573360"/>
            </a:xfrm>
            <a:custGeom>
              <a:avLst/>
              <a:gdLst/>
              <a:ahLst/>
              <a:cxnLst/>
              <a:rect l="l" t="t" r="r" b="b"/>
              <a:pathLst>
                <a:path w="2658798" h="1786835">
                  <a:moveTo>
                    <a:pt x="2659097" y="227353"/>
                  </a:moveTo>
                </a:path>
              </a:pathLst>
            </a:custGeom>
            <a:noFill/>
            <a:ln>
              <a:solidFill>
                <a:schemeClr val="accent2">
                  <a:hueOff val="0"/>
                  <a:satOff val="0"/>
                  <a:lumOff val="0"/>
                  <a:alphaOff val="0"/>
                </a:schemeClr>
              </a:solidFill>
              <a:tailEnd type="triangle" w="med" len="med"/>
            </a:ln>
          </p:spPr>
          <p:style>
            <a:lnRef idx="1">
              <a:scrgbClr r="0" g="0" b="0"/>
            </a:lnRef>
            <a:fillRef idx="0">
              <a:scrgbClr r="0" g="0" b="0"/>
            </a:fillRef>
            <a:effectRef idx="0">
              <a:scrgbClr r="0" g="0" b="0"/>
            </a:effectRef>
            <a:fontRef idx="minor"/>
          </p:style>
        </p:sp>
        <p:sp>
          <p:nvSpPr>
            <p:cNvPr id="195" name="CustomShape 4"/>
            <p:cNvSpPr/>
            <p:nvPr/>
          </p:nvSpPr>
          <p:spPr>
            <a:xfrm>
              <a:off x="6785280" y="2761920"/>
              <a:ext cx="1375560" cy="893880"/>
            </a:xfrm>
            <a:prstGeom prst="roundRect">
              <a:avLst>
                <a:gd name="adj" fmla="val 16667"/>
              </a:avLst>
            </a:prstGeom>
            <a:solidFill>
              <a:schemeClr val="accent3">
                <a:hueOff val="0"/>
                <a:satOff val="0"/>
                <a:lumOff val="0"/>
                <a:alphaOff val="0"/>
              </a:schemeClr>
            </a:solidFill>
            <a:ln>
              <a:solidFill>
                <a:schemeClr val="lt1">
                  <a:hueOff val="0"/>
                  <a:satOff val="0"/>
                  <a:lumOff val="0"/>
                  <a:alphaOff val="0"/>
                </a:schemeClr>
              </a:solidFill>
            </a:ln>
          </p:spPr>
          <p:style>
            <a:lnRef idx="2">
              <a:scrgbClr r="0" g="0" b="0"/>
            </a:lnRef>
            <a:fillRef idx="0">
              <a:scrgbClr r="0" g="0" b="0"/>
            </a:fillRef>
            <a:effectRef idx="0">
              <a:scrgbClr r="0" g="0" b="0"/>
            </a:effectRef>
            <a:fontRef idx="minor"/>
          </p:style>
          <p:txBody>
            <a:bodyPr lIns="96840" tIns="96840" rIns="53280" bIns="97200" anchor="ctr"/>
            <a:lstStyle/>
            <a:p>
              <a:pPr algn="ctr">
                <a:lnSpc>
                  <a:spcPct val="90000"/>
                </a:lnSpc>
                <a:spcAft>
                  <a:spcPts val="490"/>
                </a:spcAft>
              </a:pPr>
              <a:r>
                <a:rPr lang="en-GB" sz="1400" b="0" strike="noStrike" spc="-1">
                  <a:solidFill>
                    <a:srgbClr val="FFFFFF"/>
                  </a:solidFill>
                  <a:latin typeface="Calibri"/>
                </a:rPr>
                <a:t>2.</a:t>
              </a:r>
              <a:endParaRPr lang="en-GB" sz="1400" b="0" strike="noStrike" spc="-1">
                <a:latin typeface="Arial"/>
              </a:endParaRPr>
            </a:p>
            <a:p>
              <a:pPr algn="ctr">
                <a:lnSpc>
                  <a:spcPct val="90000"/>
                </a:lnSpc>
                <a:spcAft>
                  <a:spcPts val="490"/>
                </a:spcAft>
              </a:pPr>
              <a:r>
                <a:rPr lang="en-GB" sz="1400" b="0" strike="noStrike" spc="-1">
                  <a:solidFill>
                    <a:srgbClr val="FFFFFF"/>
                  </a:solidFill>
                  <a:latin typeface="Calibri"/>
                </a:rPr>
                <a:t>Analyser les risques</a:t>
              </a:r>
              <a:endParaRPr lang="en-GB" sz="1400" b="0" strike="noStrike" spc="-1">
                <a:latin typeface="Arial"/>
              </a:endParaRPr>
            </a:p>
          </p:txBody>
        </p:sp>
        <p:sp>
          <p:nvSpPr>
            <p:cNvPr id="196" name="CustomShape 5"/>
            <p:cNvSpPr/>
            <p:nvPr/>
          </p:nvSpPr>
          <p:spPr>
            <a:xfrm>
              <a:off x="3987000" y="1974240"/>
              <a:ext cx="3573360" cy="3573360"/>
            </a:xfrm>
            <a:custGeom>
              <a:avLst/>
              <a:gdLst/>
              <a:ahLst/>
              <a:cxnLst/>
              <a:rect l="l" t="t" r="r" b="b"/>
              <a:pathLst>
                <a:path w="3569066" h="1910438">
                  <a:moveTo>
                    <a:pt x="3569430" y="1910461"/>
                  </a:moveTo>
                </a:path>
              </a:pathLst>
            </a:custGeom>
            <a:noFill/>
            <a:ln>
              <a:solidFill>
                <a:schemeClr val="accent3">
                  <a:hueOff val="0"/>
                  <a:satOff val="0"/>
                  <a:lumOff val="0"/>
                  <a:alphaOff val="0"/>
                </a:schemeClr>
              </a:solidFill>
              <a:tailEnd type="triangle" w="med" len="med"/>
            </a:ln>
          </p:spPr>
          <p:style>
            <a:lnRef idx="1">
              <a:scrgbClr r="0" g="0" b="0"/>
            </a:lnRef>
            <a:fillRef idx="0">
              <a:scrgbClr r="0" g="0" b="0"/>
            </a:fillRef>
            <a:effectRef idx="0">
              <a:scrgbClr r="0" g="0" b="0"/>
            </a:effectRef>
            <a:fontRef idx="minor"/>
          </p:style>
        </p:sp>
        <p:sp>
          <p:nvSpPr>
            <p:cNvPr id="197" name="CustomShape 6"/>
            <p:cNvSpPr/>
            <p:nvPr/>
          </p:nvSpPr>
          <p:spPr>
            <a:xfrm>
              <a:off x="6136200" y="4759560"/>
              <a:ext cx="1375560" cy="893880"/>
            </a:xfrm>
            <a:prstGeom prst="roundRect">
              <a:avLst>
                <a:gd name="adj" fmla="val 16667"/>
              </a:avLst>
            </a:prstGeom>
            <a:solidFill>
              <a:schemeClr val="accent4">
                <a:hueOff val="0"/>
                <a:satOff val="0"/>
                <a:lumOff val="0"/>
                <a:alphaOff val="0"/>
              </a:schemeClr>
            </a:solidFill>
            <a:ln>
              <a:solidFill>
                <a:schemeClr val="lt1">
                  <a:hueOff val="0"/>
                  <a:satOff val="0"/>
                  <a:lumOff val="0"/>
                  <a:alphaOff val="0"/>
                </a:schemeClr>
              </a:solidFill>
            </a:ln>
          </p:spPr>
          <p:style>
            <a:lnRef idx="2">
              <a:scrgbClr r="0" g="0" b="0"/>
            </a:lnRef>
            <a:fillRef idx="0">
              <a:scrgbClr r="0" g="0" b="0"/>
            </a:fillRef>
            <a:effectRef idx="0">
              <a:scrgbClr r="0" g="0" b="0"/>
            </a:effectRef>
            <a:fontRef idx="minor"/>
          </p:style>
          <p:txBody>
            <a:bodyPr lIns="96840" tIns="96840" rIns="53280" bIns="97200" anchor="ctr"/>
            <a:lstStyle/>
            <a:p>
              <a:pPr algn="ctr">
                <a:lnSpc>
                  <a:spcPct val="90000"/>
                </a:lnSpc>
                <a:spcAft>
                  <a:spcPts val="490"/>
                </a:spcAft>
              </a:pPr>
              <a:r>
                <a:rPr lang="en-GB" sz="1400" b="0" strike="noStrike" spc="-1">
                  <a:solidFill>
                    <a:srgbClr val="FFFFFF"/>
                  </a:solidFill>
                  <a:latin typeface="Calibri"/>
                </a:rPr>
                <a:t>3.</a:t>
              </a:r>
              <a:endParaRPr lang="en-GB" sz="1400" b="0" strike="noStrike" spc="-1">
                <a:latin typeface="Arial"/>
              </a:endParaRPr>
            </a:p>
            <a:p>
              <a:pPr algn="ctr">
                <a:lnSpc>
                  <a:spcPct val="90000"/>
                </a:lnSpc>
                <a:spcAft>
                  <a:spcPts val="490"/>
                </a:spcAft>
              </a:pPr>
              <a:r>
                <a:rPr lang="en-GB" sz="1400" b="0" strike="noStrike" spc="-1">
                  <a:solidFill>
                    <a:srgbClr val="FFFFFF"/>
                  </a:solidFill>
                  <a:latin typeface="Calibri"/>
                </a:rPr>
                <a:t>Plan d’action</a:t>
              </a:r>
              <a:endParaRPr lang="en-GB" sz="1400" b="0" strike="noStrike" spc="-1">
                <a:latin typeface="Arial"/>
              </a:endParaRPr>
            </a:p>
          </p:txBody>
        </p:sp>
        <p:sp>
          <p:nvSpPr>
            <p:cNvPr id="198" name="CustomShape 7"/>
            <p:cNvSpPr/>
            <p:nvPr/>
          </p:nvSpPr>
          <p:spPr>
            <a:xfrm>
              <a:off x="3987000" y="1974240"/>
              <a:ext cx="3573360" cy="3573360"/>
            </a:xfrm>
            <a:custGeom>
              <a:avLst/>
              <a:gdLst/>
              <a:ahLst/>
              <a:cxnLst/>
              <a:rect l="l" t="t" r="r" b="b"/>
              <a:pathLst>
                <a:path w="2006197" h="3560173">
                  <a:moveTo>
                    <a:pt x="2006280" y="3560187"/>
                  </a:moveTo>
                </a:path>
              </a:pathLst>
            </a:custGeom>
            <a:noFill/>
            <a:ln>
              <a:solidFill>
                <a:schemeClr val="accent4">
                  <a:hueOff val="0"/>
                  <a:satOff val="0"/>
                  <a:lumOff val="0"/>
                  <a:alphaOff val="0"/>
                </a:schemeClr>
              </a:solidFill>
              <a:tailEnd type="triangle" w="med" len="med"/>
            </a:ln>
          </p:spPr>
          <p:style>
            <a:lnRef idx="1">
              <a:scrgbClr r="0" g="0" b="0"/>
            </a:lnRef>
            <a:fillRef idx="0">
              <a:scrgbClr r="0" g="0" b="0"/>
            </a:fillRef>
            <a:effectRef idx="0">
              <a:scrgbClr r="0" g="0" b="0"/>
            </a:effectRef>
            <a:fontRef idx="minor"/>
          </p:style>
        </p:sp>
        <p:sp>
          <p:nvSpPr>
            <p:cNvPr id="199" name="CustomShape 8"/>
            <p:cNvSpPr/>
            <p:nvPr/>
          </p:nvSpPr>
          <p:spPr>
            <a:xfrm>
              <a:off x="4035600" y="4759560"/>
              <a:ext cx="1375560" cy="893880"/>
            </a:xfrm>
            <a:prstGeom prst="roundRect">
              <a:avLst>
                <a:gd name="adj" fmla="val 16667"/>
              </a:avLst>
            </a:prstGeom>
            <a:solidFill>
              <a:schemeClr val="accent5">
                <a:hueOff val="0"/>
                <a:satOff val="0"/>
                <a:lumOff val="0"/>
                <a:alphaOff val="0"/>
              </a:schemeClr>
            </a:solidFill>
            <a:ln>
              <a:solidFill>
                <a:schemeClr val="lt1">
                  <a:hueOff val="0"/>
                  <a:satOff val="0"/>
                  <a:lumOff val="0"/>
                  <a:alphaOff val="0"/>
                </a:schemeClr>
              </a:solidFill>
            </a:ln>
          </p:spPr>
          <p:style>
            <a:lnRef idx="2">
              <a:scrgbClr r="0" g="0" b="0"/>
            </a:lnRef>
            <a:fillRef idx="0">
              <a:scrgbClr r="0" g="0" b="0"/>
            </a:fillRef>
            <a:effectRef idx="0">
              <a:scrgbClr r="0" g="0" b="0"/>
            </a:effectRef>
            <a:fontRef idx="minor"/>
          </p:style>
          <p:txBody>
            <a:bodyPr lIns="96840" tIns="96840" rIns="53280" bIns="97200" anchor="ctr"/>
            <a:lstStyle/>
            <a:p>
              <a:pPr algn="ctr">
                <a:lnSpc>
                  <a:spcPct val="90000"/>
                </a:lnSpc>
                <a:spcAft>
                  <a:spcPts val="490"/>
                </a:spcAft>
              </a:pPr>
              <a:r>
                <a:rPr lang="en-GB" sz="1400" b="0" strike="noStrike" spc="-1">
                  <a:solidFill>
                    <a:srgbClr val="FFFFFF"/>
                  </a:solidFill>
                  <a:latin typeface="Calibri"/>
                </a:rPr>
                <a:t>4.</a:t>
              </a:r>
              <a:endParaRPr lang="en-GB" sz="1400" b="0" strike="noStrike" spc="-1">
                <a:latin typeface="Arial"/>
              </a:endParaRPr>
            </a:p>
            <a:p>
              <a:pPr algn="ctr">
                <a:lnSpc>
                  <a:spcPct val="90000"/>
                </a:lnSpc>
                <a:spcAft>
                  <a:spcPts val="490"/>
                </a:spcAft>
              </a:pPr>
              <a:r>
                <a:rPr lang="en-GB" sz="1400" b="0" strike="noStrike" spc="-1">
                  <a:solidFill>
                    <a:srgbClr val="FFFFFF"/>
                  </a:solidFill>
                  <a:latin typeface="Calibri"/>
                </a:rPr>
                <a:t>Implementation du plan</a:t>
              </a:r>
              <a:endParaRPr lang="en-GB" sz="1400" b="0" strike="noStrike" spc="-1">
                <a:latin typeface="Arial"/>
              </a:endParaRPr>
            </a:p>
          </p:txBody>
        </p:sp>
        <p:sp>
          <p:nvSpPr>
            <p:cNvPr id="200" name="CustomShape 9"/>
            <p:cNvSpPr/>
            <p:nvPr/>
          </p:nvSpPr>
          <p:spPr>
            <a:xfrm>
              <a:off x="3987000" y="1974240"/>
              <a:ext cx="3573360" cy="3573360"/>
            </a:xfrm>
            <a:custGeom>
              <a:avLst/>
              <a:gdLst/>
              <a:ahLst/>
              <a:cxnLst/>
              <a:rect l="l" t="t" r="r" b="b"/>
              <a:pathLst>
                <a:path w="1786702" h="2587894">
                  <a:moveTo>
                    <a:pt x="189622" y="2587917"/>
                  </a:moveTo>
                </a:path>
              </a:pathLst>
            </a:custGeom>
            <a:noFill/>
            <a:ln>
              <a:solidFill>
                <a:schemeClr val="accent5">
                  <a:hueOff val="0"/>
                  <a:satOff val="0"/>
                  <a:lumOff val="0"/>
                  <a:alphaOff val="0"/>
                </a:schemeClr>
              </a:solidFill>
              <a:tailEnd type="triangle" w="med" len="med"/>
            </a:ln>
          </p:spPr>
          <p:style>
            <a:lnRef idx="1">
              <a:scrgbClr r="0" g="0" b="0"/>
            </a:lnRef>
            <a:fillRef idx="0">
              <a:scrgbClr r="0" g="0" b="0"/>
            </a:fillRef>
            <a:effectRef idx="0">
              <a:scrgbClr r="0" g="0" b="0"/>
            </a:effectRef>
            <a:fontRef idx="minor"/>
          </p:style>
        </p:sp>
        <p:sp>
          <p:nvSpPr>
            <p:cNvPr id="201" name="CustomShape 10"/>
            <p:cNvSpPr/>
            <p:nvPr/>
          </p:nvSpPr>
          <p:spPr>
            <a:xfrm>
              <a:off x="3386520" y="2761920"/>
              <a:ext cx="1375560" cy="893880"/>
            </a:xfrm>
            <a:prstGeom prst="roundRect">
              <a:avLst>
                <a:gd name="adj" fmla="val 16667"/>
              </a:avLst>
            </a:prstGeom>
            <a:solidFill>
              <a:schemeClr val="accent6">
                <a:hueOff val="0"/>
                <a:satOff val="0"/>
                <a:lumOff val="0"/>
                <a:alphaOff val="0"/>
              </a:schemeClr>
            </a:solidFill>
            <a:ln>
              <a:solidFill>
                <a:schemeClr val="lt1">
                  <a:hueOff val="0"/>
                  <a:satOff val="0"/>
                  <a:lumOff val="0"/>
                  <a:alphaOff val="0"/>
                </a:schemeClr>
              </a:solidFill>
            </a:ln>
          </p:spPr>
          <p:style>
            <a:lnRef idx="2">
              <a:scrgbClr r="0" g="0" b="0"/>
            </a:lnRef>
            <a:fillRef idx="0">
              <a:scrgbClr r="0" g="0" b="0"/>
            </a:fillRef>
            <a:effectRef idx="0">
              <a:scrgbClr r="0" g="0" b="0"/>
            </a:effectRef>
            <a:fontRef idx="minor"/>
          </p:style>
          <p:txBody>
            <a:bodyPr lIns="96840" tIns="96840" rIns="53280" bIns="97200" anchor="ctr"/>
            <a:lstStyle/>
            <a:p>
              <a:pPr algn="ctr">
                <a:lnSpc>
                  <a:spcPct val="90000"/>
                </a:lnSpc>
                <a:spcAft>
                  <a:spcPts val="490"/>
                </a:spcAft>
              </a:pPr>
              <a:r>
                <a:rPr lang="en-GB" sz="1400" b="0" strike="noStrike" spc="-1">
                  <a:solidFill>
                    <a:srgbClr val="FFFFFF"/>
                  </a:solidFill>
                  <a:latin typeface="Calibri"/>
                </a:rPr>
                <a:t>5.</a:t>
              </a:r>
              <a:endParaRPr lang="en-GB" sz="1400" b="0" strike="noStrike" spc="-1">
                <a:latin typeface="Arial"/>
              </a:endParaRPr>
            </a:p>
            <a:p>
              <a:pPr algn="ctr">
                <a:lnSpc>
                  <a:spcPct val="90000"/>
                </a:lnSpc>
                <a:spcAft>
                  <a:spcPts val="490"/>
                </a:spcAft>
              </a:pPr>
              <a:r>
                <a:rPr lang="en-GB" sz="1400" b="0" strike="noStrike" spc="-1">
                  <a:solidFill>
                    <a:srgbClr val="FFFFFF"/>
                  </a:solidFill>
                  <a:latin typeface="Calibri"/>
                </a:rPr>
                <a:t>Ré-évaluation des risques</a:t>
              </a:r>
              <a:endParaRPr lang="en-GB" sz="1400" b="0" strike="noStrike" spc="-1">
                <a:latin typeface="Arial"/>
              </a:endParaRPr>
            </a:p>
          </p:txBody>
        </p:sp>
        <p:sp>
          <p:nvSpPr>
            <p:cNvPr id="202" name="CustomShape 11"/>
            <p:cNvSpPr/>
            <p:nvPr/>
          </p:nvSpPr>
          <p:spPr>
            <a:xfrm>
              <a:off x="3987000" y="1974240"/>
              <a:ext cx="3573360" cy="3573360"/>
            </a:xfrm>
            <a:custGeom>
              <a:avLst/>
              <a:gdLst/>
              <a:ahLst/>
              <a:cxnLst/>
              <a:rect l="l" t="t" r="r" b="b"/>
              <a:pathLst>
                <a:path w="1786634" h="1786835">
                  <a:moveTo>
                    <a:pt x="429755" y="624473"/>
                  </a:moveTo>
                </a:path>
              </a:pathLst>
            </a:custGeom>
            <a:noFill/>
            <a:ln>
              <a:solidFill>
                <a:schemeClr val="accent6">
                  <a:hueOff val="0"/>
                  <a:satOff val="0"/>
                  <a:lumOff val="0"/>
                  <a:alphaOff val="0"/>
                </a:schemeClr>
              </a:solidFill>
              <a:tailEnd type="triangle" w="med" len="med"/>
            </a:ln>
          </p:spPr>
          <p:style>
            <a:lnRef idx="1">
              <a:scrgbClr r="0" g="0" b="0"/>
            </a:lnRef>
            <a:fillRef idx="0">
              <a:scrgbClr r="0" g="0" b="0"/>
            </a:fillRef>
            <a:effectRef idx="0">
              <a:scrgbClr r="0" g="0" b="0"/>
            </a:effectRef>
            <a:fontRef idx="minor"/>
          </p:style>
        </p:sp>
      </p:grpSp>
      <p:grpSp>
        <p:nvGrpSpPr>
          <p:cNvPr id="203" name="Group 12"/>
          <p:cNvGrpSpPr/>
          <p:nvPr/>
        </p:nvGrpSpPr>
        <p:grpSpPr>
          <a:xfrm>
            <a:off x="0" y="0"/>
            <a:ext cx="36000" cy="36000"/>
            <a:chOff x="0" y="0"/>
            <a:chExt cx="36000" cy="36000"/>
          </a:xfrm>
        </p:grpSpPr>
      </p:grpSp>
      <p:sp>
        <p:nvSpPr>
          <p:cNvPr id="204" name="CustomShape 13"/>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3"/>
              </a:rPr>
              <a:t>joao.ramalho@rdor.nestle.com</a:t>
            </a:r>
            <a:endParaRPr lang="en-GB" sz="900" b="0" strike="noStrike" spc="-1">
              <a:latin typeface="Arial"/>
            </a:endParaRPr>
          </a:p>
        </p:txBody>
      </p:sp>
      <p:pic>
        <p:nvPicPr>
          <p:cNvPr id="205" name="Picture 8"/>
          <p:cNvPicPr/>
          <p:nvPr/>
        </p:nvPicPr>
        <p:blipFill>
          <a:blip r:embed="rId4"/>
          <a:srcRect l="1773" t="12720" r="10307" b="20514"/>
          <a:stretch/>
        </p:blipFill>
        <p:spPr>
          <a:xfrm>
            <a:off x="1951200" y="2713320"/>
            <a:ext cx="1393920" cy="595800"/>
          </a:xfrm>
          <a:prstGeom prst="rect">
            <a:avLst/>
          </a:prstGeom>
          <a:ln w="12600">
            <a:solidFill>
              <a:schemeClr val="tx1"/>
            </a:solidFill>
            <a:round/>
          </a:ln>
        </p:spPr>
      </p:pic>
      <p:sp>
        <p:nvSpPr>
          <p:cNvPr id="206" name="TextShape 14"/>
          <p:cNvSpPr txBox="1"/>
          <p:nvPr/>
        </p:nvSpPr>
        <p:spPr>
          <a:xfrm>
            <a:off x="467640" y="415080"/>
            <a:ext cx="4272480" cy="1056960"/>
          </a:xfrm>
          <a:prstGeom prst="rect">
            <a:avLst/>
          </a:prstGeom>
          <a:noFill/>
          <a:ln>
            <a:noFill/>
          </a:ln>
        </p:spPr>
        <p:txBody>
          <a:bodyPr anchor="ctr">
            <a:normAutofit fontScale="92500" lnSpcReduction="20000"/>
          </a:bodyPr>
          <a:lstStyle/>
          <a:p>
            <a:pPr>
              <a:lnSpc>
                <a:spcPct val="90000"/>
              </a:lnSpc>
            </a:pPr>
            <a:r>
              <a:rPr lang="fr-FR" sz="4400" b="1" strike="noStrike" spc="-1">
                <a:solidFill>
                  <a:srgbClr val="000000"/>
                </a:solidFill>
                <a:latin typeface="Calibri Light"/>
              </a:rPr>
              <a:t>Approche en </a:t>
            </a:r>
            <a:br/>
            <a:r>
              <a:rPr lang="fr-FR" sz="4400" b="1" strike="noStrike" spc="-1">
                <a:solidFill>
                  <a:srgbClr val="000000"/>
                </a:solidFill>
                <a:latin typeface="Calibri Light"/>
              </a:rPr>
              <a:t>5 phases</a:t>
            </a:r>
            <a:endParaRPr lang="fr-FR" sz="4400" b="0" strike="noStrike" spc="-1">
              <a:solidFill>
                <a:srgbClr val="000000"/>
              </a:solidFill>
              <a:latin typeface="Calibri"/>
            </a:endParaRPr>
          </a:p>
        </p:txBody>
      </p:sp>
      <p:pic>
        <p:nvPicPr>
          <p:cNvPr id="207" name="Picture 6"/>
          <p:cNvPicPr/>
          <p:nvPr/>
        </p:nvPicPr>
        <p:blipFill>
          <a:blip r:embed="rId5"/>
          <a:stretch/>
        </p:blipFill>
        <p:spPr>
          <a:xfrm>
            <a:off x="8223480" y="2206440"/>
            <a:ext cx="1291680" cy="1291680"/>
          </a:xfrm>
          <a:prstGeom prst="rect">
            <a:avLst/>
          </a:prstGeom>
          <a:ln>
            <a:noFill/>
          </a:ln>
        </p:spPr>
      </p:pic>
      <p:pic>
        <p:nvPicPr>
          <p:cNvPr id="208" name="Picture 2"/>
          <p:cNvPicPr/>
          <p:nvPr/>
        </p:nvPicPr>
        <p:blipFill>
          <a:blip r:embed="rId6"/>
          <a:stretch/>
        </p:blipFill>
        <p:spPr>
          <a:xfrm>
            <a:off x="7467120" y="4634640"/>
            <a:ext cx="540000" cy="540000"/>
          </a:xfrm>
          <a:prstGeom prst="rect">
            <a:avLst/>
          </a:prstGeom>
          <a:ln>
            <a:noFill/>
          </a:ln>
        </p:spPr>
      </p:pic>
      <p:sp>
        <p:nvSpPr>
          <p:cNvPr id="209" name="CustomShape 15"/>
          <p:cNvSpPr/>
          <p:nvPr/>
        </p:nvSpPr>
        <p:spPr>
          <a:xfrm>
            <a:off x="4740120" y="3053880"/>
            <a:ext cx="2046240" cy="1614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GB" sz="2000" b="0" strike="noStrike" spc="-1">
                <a:solidFill>
                  <a:srgbClr val="63513D"/>
                </a:solidFill>
                <a:latin typeface="Calibri"/>
              </a:rPr>
              <a:t>Plateforme web</a:t>
            </a:r>
            <a:endParaRPr lang="en-GB" sz="2000" b="0" strike="noStrike" spc="-1">
              <a:latin typeface="Arial"/>
            </a:endParaRPr>
          </a:p>
          <a:p>
            <a:pPr algn="ctr">
              <a:lnSpc>
                <a:spcPct val="100000"/>
              </a:lnSpc>
            </a:pPr>
            <a:r>
              <a:rPr lang="en-GB" sz="2000" b="0" strike="noStrike" spc="-1">
                <a:solidFill>
                  <a:srgbClr val="63513D"/>
                </a:solidFill>
                <a:latin typeface="Calibri"/>
              </a:rPr>
              <a:t>tri-risk</a:t>
            </a:r>
            <a:endParaRPr lang="en-GB" sz="2000" b="0" strike="noStrike" spc="-1">
              <a:latin typeface="Arial"/>
            </a:endParaRPr>
          </a:p>
          <a:p>
            <a:pPr algn="ctr">
              <a:lnSpc>
                <a:spcPct val="100000"/>
              </a:lnSpc>
            </a:pPr>
            <a:r>
              <a:rPr lang="en-GB" sz="2000" b="0" strike="noStrike" spc="-1">
                <a:solidFill>
                  <a:srgbClr val="63513D"/>
                </a:solidFill>
                <a:latin typeface="Calibri"/>
              </a:rPr>
              <a:t> developée par thoth</a:t>
            </a:r>
            <a:endParaRPr lang="en-GB" sz="2000" b="0" strike="noStrike" spc="-1">
              <a:latin typeface="Arial"/>
            </a:endParaRPr>
          </a:p>
        </p:txBody>
      </p:sp>
      <p:pic>
        <p:nvPicPr>
          <p:cNvPr id="210" name="Picture 4"/>
          <p:cNvPicPr/>
          <p:nvPr/>
        </p:nvPicPr>
        <p:blipFill>
          <a:blip r:embed="rId7"/>
          <a:stretch/>
        </p:blipFill>
        <p:spPr>
          <a:xfrm>
            <a:off x="4892760" y="423720"/>
            <a:ext cx="1760040" cy="10569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 name="Picture 4"/>
          <p:cNvPicPr/>
          <p:nvPr/>
        </p:nvPicPr>
        <p:blipFill>
          <a:blip r:embed="rId2"/>
          <a:stretch/>
        </p:blipFill>
        <p:spPr>
          <a:xfrm>
            <a:off x="4032000" y="3733560"/>
            <a:ext cx="8025480" cy="2790000"/>
          </a:xfrm>
          <a:prstGeom prst="rect">
            <a:avLst/>
          </a:prstGeom>
          <a:ln>
            <a:noFill/>
          </a:ln>
        </p:spPr>
      </p:pic>
      <p:sp>
        <p:nvSpPr>
          <p:cNvPr id="212" name="CustomShape 1"/>
          <p:cNvSpPr/>
          <p:nvPr/>
        </p:nvSpPr>
        <p:spPr>
          <a:xfrm>
            <a:off x="393120" y="1351440"/>
            <a:ext cx="6914160" cy="411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2400" b="1" strike="noStrike" spc="-1">
                <a:solidFill>
                  <a:srgbClr val="63513D"/>
                </a:solidFill>
                <a:latin typeface="Calibri"/>
              </a:rPr>
              <a:t>Entretiens avec les décheteries</a:t>
            </a:r>
            <a:endParaRPr lang="en-GB" sz="2400" b="0" strike="noStrike" spc="-1">
              <a:latin typeface="Arial"/>
            </a:endParaRPr>
          </a:p>
          <a:p>
            <a:pPr>
              <a:lnSpc>
                <a:spcPct val="100000"/>
              </a:lnSpc>
            </a:pPr>
            <a:endParaRPr lang="en-GB" sz="2400" b="0" strike="noStrike" spc="-1">
              <a:latin typeface="Arial"/>
            </a:endParaRPr>
          </a:p>
          <a:p>
            <a:pPr>
              <a:lnSpc>
                <a:spcPct val="100000"/>
              </a:lnSpc>
            </a:pPr>
            <a:r>
              <a:rPr lang="en-GB" sz="2400" b="1" strike="noStrike" spc="-1">
                <a:solidFill>
                  <a:srgbClr val="63513D"/>
                </a:solidFill>
                <a:latin typeface="Calibri"/>
              </a:rPr>
              <a:t>Description des risques </a:t>
            </a:r>
            <a:endParaRPr lang="en-GB" sz="2400" b="0" strike="noStrike" spc="-1">
              <a:latin typeface="Arial"/>
            </a:endParaRPr>
          </a:p>
          <a:p>
            <a:pPr>
              <a:lnSpc>
                <a:spcPct val="100000"/>
              </a:lnSpc>
            </a:pPr>
            <a:r>
              <a:rPr lang="en-GB" sz="2400" b="0" strike="noStrike" spc="-1">
                <a:solidFill>
                  <a:srgbClr val="63513D"/>
                </a:solidFill>
                <a:latin typeface="Calibri"/>
              </a:rPr>
              <a:t>En comprenant les plus possible</a:t>
            </a:r>
            <a:endParaRPr lang="en-GB" sz="2400" b="0" strike="noStrike" spc="-1">
              <a:latin typeface="Arial"/>
            </a:endParaRPr>
          </a:p>
          <a:p>
            <a:pPr marL="343080" indent="-342720">
              <a:lnSpc>
                <a:spcPct val="100000"/>
              </a:lnSpc>
              <a:buClr>
                <a:srgbClr val="63513D"/>
              </a:buClr>
              <a:buFont typeface="StarSymbol"/>
              <a:buChar char="-"/>
            </a:pPr>
            <a:r>
              <a:rPr lang="en-GB" sz="2400" b="0" strike="noStrike" spc="-1">
                <a:solidFill>
                  <a:srgbClr val="63513D"/>
                </a:solidFill>
                <a:latin typeface="Calibri"/>
              </a:rPr>
              <a:t>Les causes</a:t>
            </a:r>
            <a:endParaRPr lang="en-GB" sz="2400" b="0" strike="noStrike" spc="-1">
              <a:latin typeface="Arial"/>
            </a:endParaRPr>
          </a:p>
          <a:p>
            <a:pPr marL="343080" indent="-342720">
              <a:lnSpc>
                <a:spcPct val="100000"/>
              </a:lnSpc>
              <a:buClr>
                <a:srgbClr val="63513D"/>
              </a:buClr>
              <a:buFont typeface="StarSymbol"/>
              <a:buChar char="-"/>
            </a:pPr>
            <a:r>
              <a:rPr lang="en-GB" sz="2400" b="0" strike="noStrike" spc="-1">
                <a:solidFill>
                  <a:srgbClr val="63513D"/>
                </a:solidFill>
                <a:latin typeface="Calibri"/>
              </a:rPr>
              <a:t>Les impacts</a:t>
            </a:r>
            <a:endParaRPr lang="en-GB" sz="2400" b="0" strike="noStrike" spc="-1">
              <a:latin typeface="Arial"/>
            </a:endParaRPr>
          </a:p>
          <a:p>
            <a:pPr marL="343080" indent="-342720">
              <a:lnSpc>
                <a:spcPct val="100000"/>
              </a:lnSpc>
              <a:buClr>
                <a:srgbClr val="63513D"/>
              </a:buClr>
              <a:buFont typeface="StarSymbol"/>
              <a:buChar char="-"/>
            </a:pPr>
            <a:r>
              <a:rPr lang="en-GB" sz="2400" b="0" strike="noStrike" spc="-1">
                <a:solidFill>
                  <a:srgbClr val="63513D"/>
                </a:solidFill>
                <a:latin typeface="Calibri"/>
              </a:rPr>
              <a:t>Les entités impliquées</a:t>
            </a:r>
            <a:endParaRPr lang="en-GB" sz="2400" b="0" strike="noStrike" spc="-1">
              <a:latin typeface="Arial"/>
            </a:endParaRPr>
          </a:p>
          <a:p>
            <a:pPr marL="343080" indent="-342720">
              <a:lnSpc>
                <a:spcPct val="100000"/>
              </a:lnSpc>
              <a:buClr>
                <a:srgbClr val="63513D"/>
              </a:buClr>
              <a:buFont typeface="StarSymbol"/>
              <a:buChar char="-"/>
            </a:pPr>
            <a:r>
              <a:rPr lang="en-GB" sz="2400" b="0" strike="noStrike" spc="-1">
                <a:solidFill>
                  <a:srgbClr val="63513D"/>
                </a:solidFill>
                <a:latin typeface="Calibri"/>
              </a:rPr>
              <a:t>Les horizons temporels</a:t>
            </a:r>
            <a:endParaRPr lang="en-GB" sz="2400" b="0" strike="noStrike" spc="-1">
              <a:latin typeface="Arial"/>
            </a:endParaRPr>
          </a:p>
          <a:p>
            <a:pPr marL="343080" indent="-342720">
              <a:lnSpc>
                <a:spcPct val="100000"/>
              </a:lnSpc>
              <a:buClr>
                <a:srgbClr val="63513D"/>
              </a:buClr>
              <a:buFont typeface="StarSymbol"/>
              <a:buChar char="-"/>
            </a:pPr>
            <a:r>
              <a:rPr lang="en-GB" sz="2400" b="0" strike="noStrike" spc="-1">
                <a:solidFill>
                  <a:srgbClr val="63513D"/>
                </a:solidFill>
                <a:latin typeface="Calibri"/>
              </a:rPr>
              <a:t>Les coûts</a:t>
            </a:r>
            <a:endParaRPr lang="en-GB" sz="2400" b="0" strike="noStrike" spc="-1">
              <a:latin typeface="Arial"/>
            </a:endParaRPr>
          </a:p>
          <a:p>
            <a:pPr marL="343080" indent="-342720">
              <a:lnSpc>
                <a:spcPct val="100000"/>
              </a:lnSpc>
              <a:buClr>
                <a:srgbClr val="63513D"/>
              </a:buClr>
              <a:buFont typeface="StarSymbol"/>
              <a:buChar char="-"/>
            </a:pPr>
            <a:r>
              <a:rPr lang="en-GB" sz="2400" b="0" strike="noStrike" spc="-1">
                <a:solidFill>
                  <a:srgbClr val="63513D"/>
                </a:solidFill>
                <a:latin typeface="Calibri"/>
              </a:rPr>
              <a:t>…</a:t>
            </a:r>
            <a:endParaRPr lang="en-GB" sz="2400" b="0" strike="noStrike" spc="-1">
              <a:latin typeface="Arial"/>
            </a:endParaRPr>
          </a:p>
          <a:p>
            <a:pPr>
              <a:lnSpc>
                <a:spcPct val="100000"/>
              </a:lnSpc>
            </a:pPr>
            <a:endParaRPr lang="en-GB" sz="2400" b="0" strike="noStrike" spc="-1">
              <a:latin typeface="Arial"/>
            </a:endParaRPr>
          </a:p>
        </p:txBody>
      </p:sp>
      <p:sp>
        <p:nvSpPr>
          <p:cNvPr id="213" name="CustomShape 2"/>
          <p:cNvSpPr/>
          <p:nvPr/>
        </p:nvSpPr>
        <p:spPr>
          <a:xfrm>
            <a:off x="3190320" y="4632840"/>
            <a:ext cx="2057400" cy="495360"/>
          </a:xfrm>
          <a:custGeom>
            <a:avLst/>
            <a:gdLst/>
            <a:ahLst/>
            <a:cxnLst/>
            <a:rect l="l" t="t" r="r" b="b"/>
            <a:pathLst>
              <a:path w="21600" h="21600">
                <a:moveTo>
                  <a:pt x="0" y="0"/>
                </a:moveTo>
                <a:lnTo>
                  <a:pt x="21600" y="21600"/>
                </a:lnTo>
              </a:path>
            </a:pathLst>
          </a:custGeom>
          <a:noFill/>
          <a:ln w="19080">
            <a:solidFill>
              <a:srgbClr val="63513D"/>
            </a:solidFill>
            <a:tailEnd type="triangle" w="med" len="med"/>
          </a:ln>
        </p:spPr>
        <p:style>
          <a:lnRef idx="1">
            <a:schemeClr val="accent1"/>
          </a:lnRef>
          <a:fillRef idx="0">
            <a:schemeClr val="accent1"/>
          </a:fillRef>
          <a:effectRef idx="0">
            <a:schemeClr val="accent1"/>
          </a:effectRef>
          <a:fontRef idx="minor"/>
        </p:style>
      </p:sp>
      <p:sp>
        <p:nvSpPr>
          <p:cNvPr id="214" name="CustomShape 3"/>
          <p:cNvSpPr/>
          <p:nvPr/>
        </p:nvSpPr>
        <p:spPr>
          <a:xfrm>
            <a:off x="10192320" y="40680"/>
            <a:ext cx="1003320" cy="804600"/>
          </a:xfrm>
          <a:prstGeom prst="rect">
            <a:avLst/>
          </a:prstGeom>
          <a:noFill/>
          <a:ln w="57240">
            <a:solidFill>
              <a:srgbClr val="7030A0"/>
            </a:solidFill>
          </a:ln>
        </p:spPr>
        <p:style>
          <a:lnRef idx="2">
            <a:schemeClr val="accent1">
              <a:shade val="50000"/>
            </a:schemeClr>
          </a:lnRef>
          <a:fillRef idx="1">
            <a:schemeClr val="accent1"/>
          </a:fillRef>
          <a:effectRef idx="0">
            <a:schemeClr val="accent1"/>
          </a:effectRef>
          <a:fontRef idx="minor"/>
        </p:style>
      </p:sp>
      <p:sp>
        <p:nvSpPr>
          <p:cNvPr id="215" name="CustomShape 4"/>
          <p:cNvSpPr/>
          <p:nvPr/>
        </p:nvSpPr>
        <p:spPr>
          <a:xfrm>
            <a:off x="467640" y="415080"/>
            <a:ext cx="4272480" cy="105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90000"/>
              </a:lnSpc>
            </a:pPr>
            <a:r>
              <a:rPr lang="en-GB" sz="4400" b="1" strike="noStrike" spc="-1">
                <a:solidFill>
                  <a:srgbClr val="000000"/>
                </a:solidFill>
                <a:latin typeface="Calibri Light"/>
              </a:rPr>
              <a:t>Approche</a:t>
            </a:r>
            <a:endParaRPr lang="en-GB" sz="4400" b="0" strike="noStrike" spc="-1">
              <a:latin typeface="Arial"/>
            </a:endParaRPr>
          </a:p>
        </p:txBody>
      </p:sp>
      <p:pic>
        <p:nvPicPr>
          <p:cNvPr id="216" name="Picture 5"/>
          <p:cNvPicPr/>
          <p:nvPr/>
        </p:nvPicPr>
        <p:blipFill>
          <a:blip r:embed="rId3"/>
          <a:stretch/>
        </p:blipFill>
        <p:spPr>
          <a:xfrm>
            <a:off x="8660160" y="211680"/>
            <a:ext cx="4068000" cy="2279160"/>
          </a:xfrm>
          <a:prstGeom prst="rect">
            <a:avLst/>
          </a:prstGeom>
          <a:ln>
            <a:noFill/>
          </a:ln>
        </p:spPr>
      </p:pic>
      <p:sp>
        <p:nvSpPr>
          <p:cNvPr id="217" name="CustomShape 5"/>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4"/>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Picture 18"/>
          <p:cNvPicPr/>
          <p:nvPr/>
        </p:nvPicPr>
        <p:blipFill>
          <a:blip r:embed="rId2"/>
          <a:stretch/>
        </p:blipFill>
        <p:spPr>
          <a:xfrm>
            <a:off x="8660160" y="211680"/>
            <a:ext cx="4068000" cy="2279160"/>
          </a:xfrm>
          <a:prstGeom prst="rect">
            <a:avLst/>
          </a:prstGeom>
          <a:ln>
            <a:noFill/>
          </a:ln>
        </p:spPr>
      </p:pic>
      <p:sp>
        <p:nvSpPr>
          <p:cNvPr id="219" name="CustomShape 1"/>
          <p:cNvSpPr/>
          <p:nvPr/>
        </p:nvSpPr>
        <p:spPr>
          <a:xfrm>
            <a:off x="11082600" y="709200"/>
            <a:ext cx="1003320" cy="804600"/>
          </a:xfrm>
          <a:prstGeom prst="rect">
            <a:avLst/>
          </a:prstGeom>
          <a:noFill/>
          <a:ln w="57240">
            <a:solidFill>
              <a:srgbClr val="7030A0"/>
            </a:solidFill>
          </a:ln>
        </p:spPr>
        <p:style>
          <a:lnRef idx="2">
            <a:schemeClr val="accent1">
              <a:shade val="50000"/>
            </a:schemeClr>
          </a:lnRef>
          <a:fillRef idx="1">
            <a:schemeClr val="accent1"/>
          </a:fillRef>
          <a:effectRef idx="0">
            <a:schemeClr val="accent1"/>
          </a:effectRef>
          <a:fontRef idx="minor"/>
        </p:style>
      </p:sp>
      <p:sp>
        <p:nvSpPr>
          <p:cNvPr id="220" name="TextShape 2"/>
          <p:cNvSpPr txBox="1"/>
          <p:nvPr/>
        </p:nvSpPr>
        <p:spPr>
          <a:xfrm>
            <a:off x="467640" y="415080"/>
            <a:ext cx="4272480" cy="1056960"/>
          </a:xfrm>
          <a:prstGeom prst="rect">
            <a:avLst/>
          </a:prstGeom>
          <a:noFill/>
          <a:ln>
            <a:noFill/>
          </a:ln>
        </p:spPr>
        <p:txBody>
          <a:bodyPr anchor="ctr"/>
          <a:lstStyle/>
          <a:p>
            <a:pPr>
              <a:lnSpc>
                <a:spcPct val="90000"/>
              </a:lnSpc>
            </a:pPr>
            <a:r>
              <a:rPr lang="fr-FR" sz="4400" b="1" strike="noStrike" spc="-1">
                <a:solidFill>
                  <a:srgbClr val="000000"/>
                </a:solidFill>
                <a:latin typeface="Calibri Light"/>
              </a:rPr>
              <a:t>Approche</a:t>
            </a:r>
            <a:endParaRPr lang="fr-FR" sz="4400" b="0" strike="noStrike" spc="-1">
              <a:solidFill>
                <a:srgbClr val="000000"/>
              </a:solidFill>
              <a:latin typeface="Calibri"/>
            </a:endParaRPr>
          </a:p>
        </p:txBody>
      </p:sp>
      <p:pic>
        <p:nvPicPr>
          <p:cNvPr id="221" name="Picture 2"/>
          <p:cNvPicPr/>
          <p:nvPr/>
        </p:nvPicPr>
        <p:blipFill>
          <a:blip r:embed="rId3"/>
          <a:stretch/>
        </p:blipFill>
        <p:spPr>
          <a:xfrm>
            <a:off x="4478040" y="2638800"/>
            <a:ext cx="3738960" cy="2531520"/>
          </a:xfrm>
          <a:prstGeom prst="rect">
            <a:avLst/>
          </a:prstGeom>
          <a:ln>
            <a:noFill/>
          </a:ln>
        </p:spPr>
      </p:pic>
      <p:pic>
        <p:nvPicPr>
          <p:cNvPr id="222" name="Picture 4"/>
          <p:cNvPicPr/>
          <p:nvPr/>
        </p:nvPicPr>
        <p:blipFill>
          <a:blip r:embed="rId4"/>
          <a:stretch/>
        </p:blipFill>
        <p:spPr>
          <a:xfrm>
            <a:off x="581040" y="1602360"/>
            <a:ext cx="3598560" cy="2327040"/>
          </a:xfrm>
          <a:prstGeom prst="rect">
            <a:avLst/>
          </a:prstGeom>
          <a:ln>
            <a:noFill/>
          </a:ln>
        </p:spPr>
      </p:pic>
      <p:pic>
        <p:nvPicPr>
          <p:cNvPr id="223" name="Picture 3"/>
          <p:cNvPicPr/>
          <p:nvPr/>
        </p:nvPicPr>
        <p:blipFill>
          <a:blip r:embed="rId5"/>
          <a:stretch/>
        </p:blipFill>
        <p:spPr>
          <a:xfrm>
            <a:off x="8515080" y="3825360"/>
            <a:ext cx="1681200" cy="1681200"/>
          </a:xfrm>
          <a:prstGeom prst="rect">
            <a:avLst/>
          </a:prstGeom>
          <a:ln>
            <a:noFill/>
          </a:ln>
        </p:spPr>
      </p:pic>
      <p:sp>
        <p:nvSpPr>
          <p:cNvPr id="224" name="CustomShape 3"/>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6"/>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Picture 7"/>
          <p:cNvPicPr/>
          <p:nvPr/>
        </p:nvPicPr>
        <p:blipFill>
          <a:blip r:embed="rId2"/>
          <a:stretch/>
        </p:blipFill>
        <p:spPr>
          <a:xfrm>
            <a:off x="8660160" y="211680"/>
            <a:ext cx="4068000" cy="2279160"/>
          </a:xfrm>
          <a:prstGeom prst="rect">
            <a:avLst/>
          </a:prstGeom>
          <a:ln>
            <a:noFill/>
          </a:ln>
        </p:spPr>
      </p:pic>
      <p:sp>
        <p:nvSpPr>
          <p:cNvPr id="226" name="TextShape 1"/>
          <p:cNvSpPr txBox="1"/>
          <p:nvPr/>
        </p:nvSpPr>
        <p:spPr>
          <a:xfrm>
            <a:off x="290520" y="1842120"/>
            <a:ext cx="3795840" cy="3978720"/>
          </a:xfrm>
          <a:prstGeom prst="rect">
            <a:avLst/>
          </a:prstGeom>
          <a:noFill/>
          <a:ln>
            <a:noFill/>
          </a:ln>
        </p:spPr>
        <p:txBody>
          <a:bodyPr/>
          <a:lstStyle/>
          <a:p>
            <a:pPr indent="-228240">
              <a:lnSpc>
                <a:spcPct val="90000"/>
              </a:lnSpc>
              <a:spcBef>
                <a:spcPts val="1001"/>
              </a:spcBef>
              <a:buClr>
                <a:srgbClr val="63513D"/>
              </a:buClr>
              <a:buFont typeface="Arial"/>
              <a:buChar char="•"/>
            </a:pPr>
            <a:r>
              <a:rPr lang="fr-FR" sz="2400" b="0" strike="noStrike" spc="-1">
                <a:solidFill>
                  <a:srgbClr val="63513D"/>
                </a:solidFill>
                <a:latin typeface="Calibri"/>
              </a:rPr>
              <a:t>Escalate</a:t>
            </a:r>
            <a:endParaRPr lang="fr-FR" sz="2400" b="0" strike="noStrike" spc="-1">
              <a:solidFill>
                <a:srgbClr val="000000"/>
              </a:solidFill>
              <a:latin typeface="Calibri"/>
            </a:endParaRPr>
          </a:p>
          <a:p>
            <a:pPr indent="-228240">
              <a:lnSpc>
                <a:spcPct val="90000"/>
              </a:lnSpc>
              <a:spcBef>
                <a:spcPts val="1001"/>
              </a:spcBef>
              <a:buClr>
                <a:srgbClr val="63513D"/>
              </a:buClr>
              <a:buFont typeface="Arial"/>
              <a:buChar char="•"/>
            </a:pPr>
            <a:r>
              <a:rPr lang="fr-FR" sz="2400" b="0" strike="noStrike" spc="-1">
                <a:solidFill>
                  <a:srgbClr val="63513D"/>
                </a:solidFill>
                <a:latin typeface="Calibri"/>
              </a:rPr>
              <a:t>Avoid</a:t>
            </a:r>
            <a:endParaRPr lang="fr-FR" sz="2400" b="0" strike="noStrike" spc="-1">
              <a:solidFill>
                <a:srgbClr val="000000"/>
              </a:solidFill>
              <a:latin typeface="Calibri"/>
            </a:endParaRPr>
          </a:p>
          <a:p>
            <a:pPr indent="-228240">
              <a:lnSpc>
                <a:spcPct val="90000"/>
              </a:lnSpc>
              <a:spcBef>
                <a:spcPts val="1001"/>
              </a:spcBef>
              <a:buClr>
                <a:srgbClr val="63513D"/>
              </a:buClr>
              <a:buFont typeface="Arial"/>
              <a:buChar char="•"/>
            </a:pPr>
            <a:r>
              <a:rPr lang="fr-FR" sz="2400" b="0" strike="noStrike" spc="-1">
                <a:solidFill>
                  <a:srgbClr val="63513D"/>
                </a:solidFill>
                <a:latin typeface="Calibri"/>
              </a:rPr>
              <a:t>Transfer</a:t>
            </a:r>
            <a:endParaRPr lang="fr-FR" sz="2400" b="0" strike="noStrike" spc="-1">
              <a:solidFill>
                <a:srgbClr val="000000"/>
              </a:solidFill>
              <a:latin typeface="Calibri"/>
            </a:endParaRPr>
          </a:p>
          <a:p>
            <a:pPr indent="-228240">
              <a:lnSpc>
                <a:spcPct val="90000"/>
              </a:lnSpc>
              <a:spcBef>
                <a:spcPts val="1001"/>
              </a:spcBef>
              <a:buClr>
                <a:srgbClr val="63513D"/>
              </a:buClr>
              <a:buFont typeface="Arial"/>
              <a:buChar char="•"/>
            </a:pPr>
            <a:r>
              <a:rPr lang="fr-FR" sz="2400" b="0" strike="noStrike" spc="-1">
                <a:solidFill>
                  <a:srgbClr val="63513D"/>
                </a:solidFill>
                <a:latin typeface="Calibri"/>
              </a:rPr>
              <a:t>Mitigate</a:t>
            </a:r>
            <a:endParaRPr lang="fr-FR" sz="2400" b="0" strike="noStrike" spc="-1">
              <a:solidFill>
                <a:srgbClr val="000000"/>
              </a:solidFill>
              <a:latin typeface="Calibri"/>
            </a:endParaRPr>
          </a:p>
          <a:p>
            <a:pPr indent="-228240">
              <a:lnSpc>
                <a:spcPct val="90000"/>
              </a:lnSpc>
              <a:spcBef>
                <a:spcPts val="1001"/>
              </a:spcBef>
              <a:buClr>
                <a:srgbClr val="63513D"/>
              </a:buClr>
              <a:buFont typeface="Arial"/>
              <a:buChar char="•"/>
            </a:pPr>
            <a:r>
              <a:rPr lang="fr-FR" sz="2400" b="0" strike="noStrike" spc="-1">
                <a:solidFill>
                  <a:srgbClr val="63513D"/>
                </a:solidFill>
                <a:latin typeface="Calibri"/>
              </a:rPr>
              <a:t>Accept</a:t>
            </a:r>
            <a:endParaRPr lang="fr-FR" sz="2400" b="0" strike="noStrike" spc="-1">
              <a:solidFill>
                <a:srgbClr val="000000"/>
              </a:solidFill>
              <a:latin typeface="Calibri"/>
            </a:endParaRPr>
          </a:p>
          <a:p>
            <a:pPr>
              <a:lnSpc>
                <a:spcPct val="90000"/>
              </a:lnSpc>
              <a:spcBef>
                <a:spcPts val="1001"/>
              </a:spcBef>
            </a:pPr>
            <a:r>
              <a:rPr lang="fr-FR" sz="2400" b="0" strike="noStrike" spc="-1">
                <a:solidFill>
                  <a:srgbClr val="63513D"/>
                </a:solidFill>
                <a:latin typeface="Wingdings"/>
              </a:rPr>
              <a:t></a:t>
            </a:r>
            <a:r>
              <a:rPr lang="fr-FR" sz="2400" b="0" strike="noStrike" spc="-1">
                <a:solidFill>
                  <a:srgbClr val="63513D"/>
                </a:solidFill>
                <a:latin typeface="Calibri"/>
              </a:rPr>
              <a:t> «smart» actions</a:t>
            </a:r>
            <a:endParaRPr lang="fr-FR" sz="2400" b="0" strike="noStrike" spc="-1">
              <a:solidFill>
                <a:srgbClr val="000000"/>
              </a:solidFill>
              <a:latin typeface="Calibri"/>
            </a:endParaRPr>
          </a:p>
        </p:txBody>
      </p:sp>
      <p:sp>
        <p:nvSpPr>
          <p:cNvPr id="227" name="CustomShape 2"/>
          <p:cNvSpPr/>
          <p:nvPr/>
        </p:nvSpPr>
        <p:spPr>
          <a:xfrm>
            <a:off x="10744560" y="1804680"/>
            <a:ext cx="1003320" cy="804600"/>
          </a:xfrm>
          <a:prstGeom prst="rect">
            <a:avLst/>
          </a:prstGeom>
          <a:noFill/>
          <a:ln w="57240">
            <a:solidFill>
              <a:srgbClr val="7030A0"/>
            </a:solidFill>
          </a:ln>
        </p:spPr>
        <p:style>
          <a:lnRef idx="2">
            <a:schemeClr val="accent1">
              <a:shade val="50000"/>
            </a:schemeClr>
          </a:lnRef>
          <a:fillRef idx="1">
            <a:schemeClr val="accent1"/>
          </a:fillRef>
          <a:effectRef idx="0">
            <a:schemeClr val="accent1"/>
          </a:effectRef>
          <a:fontRef idx="minor"/>
        </p:style>
      </p:sp>
      <p:sp>
        <p:nvSpPr>
          <p:cNvPr id="228" name="TextShape 3"/>
          <p:cNvSpPr txBox="1"/>
          <p:nvPr/>
        </p:nvSpPr>
        <p:spPr>
          <a:xfrm>
            <a:off x="467640" y="415080"/>
            <a:ext cx="4272480" cy="1056960"/>
          </a:xfrm>
          <a:prstGeom prst="rect">
            <a:avLst/>
          </a:prstGeom>
          <a:noFill/>
          <a:ln>
            <a:noFill/>
          </a:ln>
        </p:spPr>
        <p:txBody>
          <a:bodyPr anchor="ctr"/>
          <a:lstStyle/>
          <a:p>
            <a:pPr>
              <a:lnSpc>
                <a:spcPct val="90000"/>
              </a:lnSpc>
            </a:pPr>
            <a:r>
              <a:rPr lang="fr-FR" sz="4400" b="1" strike="noStrike" spc="-1">
                <a:solidFill>
                  <a:srgbClr val="000000"/>
                </a:solidFill>
                <a:latin typeface="Calibri Light"/>
              </a:rPr>
              <a:t>Approche</a:t>
            </a:r>
            <a:endParaRPr lang="fr-FR" sz="4400" b="0" strike="noStrike" spc="-1">
              <a:solidFill>
                <a:srgbClr val="000000"/>
              </a:solidFill>
              <a:latin typeface="Calibri"/>
            </a:endParaRPr>
          </a:p>
        </p:txBody>
      </p:sp>
      <p:pic>
        <p:nvPicPr>
          <p:cNvPr id="229" name="Picture 1"/>
          <p:cNvPicPr/>
          <p:nvPr/>
        </p:nvPicPr>
        <p:blipFill>
          <a:blip r:embed="rId3"/>
          <a:stretch/>
        </p:blipFill>
        <p:spPr>
          <a:xfrm>
            <a:off x="3340440" y="2860920"/>
            <a:ext cx="8149680" cy="3951360"/>
          </a:xfrm>
          <a:prstGeom prst="rect">
            <a:avLst/>
          </a:prstGeom>
          <a:ln>
            <a:noFill/>
          </a:ln>
        </p:spPr>
      </p:pic>
      <p:sp>
        <p:nvSpPr>
          <p:cNvPr id="230" name="CustomShape 4"/>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4"/>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 name="Picture 8"/>
          <p:cNvPicPr/>
          <p:nvPr/>
        </p:nvPicPr>
        <p:blipFill>
          <a:blip r:embed="rId2"/>
          <a:stretch/>
        </p:blipFill>
        <p:spPr>
          <a:xfrm>
            <a:off x="8660160" y="211680"/>
            <a:ext cx="4068000" cy="2279160"/>
          </a:xfrm>
          <a:prstGeom prst="rect">
            <a:avLst/>
          </a:prstGeom>
          <a:ln>
            <a:noFill/>
          </a:ln>
        </p:spPr>
      </p:pic>
      <p:sp>
        <p:nvSpPr>
          <p:cNvPr id="232" name="CustomShape 1"/>
          <p:cNvSpPr/>
          <p:nvPr/>
        </p:nvSpPr>
        <p:spPr>
          <a:xfrm>
            <a:off x="9271440" y="699480"/>
            <a:ext cx="1003320" cy="804600"/>
          </a:xfrm>
          <a:prstGeom prst="rect">
            <a:avLst/>
          </a:prstGeom>
          <a:noFill/>
          <a:ln w="57240">
            <a:solidFill>
              <a:srgbClr val="7030A0"/>
            </a:solidFill>
          </a:ln>
        </p:spPr>
        <p:style>
          <a:lnRef idx="2">
            <a:schemeClr val="accent1">
              <a:shade val="50000"/>
            </a:schemeClr>
          </a:lnRef>
          <a:fillRef idx="1">
            <a:schemeClr val="accent1"/>
          </a:fillRef>
          <a:effectRef idx="0">
            <a:schemeClr val="accent1"/>
          </a:effectRef>
          <a:fontRef idx="minor"/>
        </p:style>
      </p:sp>
      <p:pic>
        <p:nvPicPr>
          <p:cNvPr id="233" name="Picture 5"/>
          <p:cNvPicPr/>
          <p:nvPr/>
        </p:nvPicPr>
        <p:blipFill>
          <a:blip r:embed="rId3"/>
          <a:stretch/>
        </p:blipFill>
        <p:spPr>
          <a:xfrm>
            <a:off x="1573560" y="2018160"/>
            <a:ext cx="6919920" cy="3995640"/>
          </a:xfrm>
          <a:prstGeom prst="rect">
            <a:avLst/>
          </a:prstGeom>
          <a:ln>
            <a:noFill/>
          </a:ln>
        </p:spPr>
      </p:pic>
      <p:sp>
        <p:nvSpPr>
          <p:cNvPr id="234" name="CustomShape 2"/>
          <p:cNvSpPr/>
          <p:nvPr/>
        </p:nvSpPr>
        <p:spPr>
          <a:xfrm>
            <a:off x="467640" y="415080"/>
            <a:ext cx="2580120" cy="874800"/>
          </a:xfrm>
          <a:prstGeom prst="rect">
            <a:avLst/>
          </a:prstGeom>
          <a:noFill/>
          <a:ln>
            <a:noFill/>
          </a:ln>
        </p:spPr>
        <p:style>
          <a:lnRef idx="0">
            <a:scrgbClr r="0" g="0" b="0"/>
          </a:lnRef>
          <a:fillRef idx="0">
            <a:scrgbClr r="0" g="0" b="0"/>
          </a:fillRef>
          <a:effectRef idx="0">
            <a:scrgbClr r="0" g="0" b="0"/>
          </a:effectRef>
          <a:fontRef idx="minor"/>
        </p:style>
        <p:txBody>
          <a:bodyPr anchor="b">
            <a:normAutofit/>
          </a:bodyPr>
          <a:lstStyle/>
          <a:p>
            <a:pPr algn="ctr">
              <a:lnSpc>
                <a:spcPct val="90000"/>
              </a:lnSpc>
            </a:pPr>
            <a:r>
              <a:rPr lang="en-GB" sz="4400" b="1" strike="noStrike" spc="-1">
                <a:solidFill>
                  <a:srgbClr val="000000"/>
                </a:solidFill>
                <a:latin typeface="Calibri Light"/>
              </a:rPr>
              <a:t>Approche</a:t>
            </a:r>
            <a:endParaRPr lang="en-GB" sz="4400" b="0" strike="noStrike" spc="-1">
              <a:latin typeface="Arial"/>
            </a:endParaRPr>
          </a:p>
        </p:txBody>
      </p:sp>
      <p:sp>
        <p:nvSpPr>
          <p:cNvPr id="235" name="CustomShape 3"/>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4"/>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extShape 1"/>
          <p:cNvSpPr txBox="1"/>
          <p:nvPr/>
        </p:nvSpPr>
        <p:spPr>
          <a:xfrm>
            <a:off x="72000" y="102600"/>
            <a:ext cx="10515240" cy="833400"/>
          </a:xfrm>
          <a:prstGeom prst="rect">
            <a:avLst/>
          </a:prstGeom>
          <a:noFill/>
          <a:ln>
            <a:noFill/>
          </a:ln>
        </p:spPr>
        <p:txBody>
          <a:bodyPr lIns="90000" tIns="45000" rIns="90000" bIns="45000" anchor="ctr"/>
          <a:lstStyle/>
          <a:p>
            <a:r>
              <a:rPr lang="en-GB" sz="3200" b="1" strike="noStrike" spc="-1">
                <a:solidFill>
                  <a:srgbClr val="000000"/>
                </a:solidFill>
                <a:latin typeface="Calibri Light"/>
              </a:rPr>
              <a:t>Sommaire: fonctionnement et avantages</a:t>
            </a:r>
            <a:endParaRPr lang="en-GB" sz="3200" b="0" strike="noStrike" spc="-1">
              <a:latin typeface="Arial"/>
            </a:endParaRPr>
          </a:p>
        </p:txBody>
      </p:sp>
      <p:graphicFrame>
        <p:nvGraphicFramePr>
          <p:cNvPr id="237" name="Table 2"/>
          <p:cNvGraphicFramePr/>
          <p:nvPr/>
        </p:nvGraphicFramePr>
        <p:xfrm>
          <a:off x="208080" y="864000"/>
          <a:ext cx="11736000" cy="5716440"/>
        </p:xfrm>
        <a:graphic>
          <a:graphicData uri="http://schemas.openxmlformats.org/drawingml/2006/table">
            <a:tbl>
              <a:tblPr/>
              <a:tblGrid>
                <a:gridCol w="2933280">
                  <a:extLst>
                    <a:ext uri="{9D8B030D-6E8A-4147-A177-3AD203B41FA5}">
                      <a16:colId xmlns:a16="http://schemas.microsoft.com/office/drawing/2014/main" val="20000"/>
                    </a:ext>
                  </a:extLst>
                </a:gridCol>
                <a:gridCol w="2933280">
                  <a:extLst>
                    <a:ext uri="{9D8B030D-6E8A-4147-A177-3AD203B41FA5}">
                      <a16:colId xmlns:a16="http://schemas.microsoft.com/office/drawing/2014/main" val="20001"/>
                    </a:ext>
                  </a:extLst>
                </a:gridCol>
                <a:gridCol w="2933280">
                  <a:extLst>
                    <a:ext uri="{9D8B030D-6E8A-4147-A177-3AD203B41FA5}">
                      <a16:colId xmlns:a16="http://schemas.microsoft.com/office/drawing/2014/main" val="20002"/>
                    </a:ext>
                  </a:extLst>
                </a:gridCol>
                <a:gridCol w="2936160">
                  <a:extLst>
                    <a:ext uri="{9D8B030D-6E8A-4147-A177-3AD203B41FA5}">
                      <a16:colId xmlns:a16="http://schemas.microsoft.com/office/drawing/2014/main" val="20003"/>
                    </a:ext>
                  </a:extLst>
                </a:gridCol>
              </a:tblGrid>
              <a:tr h="622440">
                <a:tc>
                  <a:txBody>
                    <a:bodyPr/>
                    <a:lstStyle/>
                    <a:p>
                      <a:r>
                        <a:rPr lang="en-GB" sz="1800" b="1" strike="noStrike" spc="-1">
                          <a:solidFill>
                            <a:srgbClr val="FFFFFF"/>
                          </a:solidFill>
                          <a:latin typeface="Calibri"/>
                        </a:rPr>
                        <a:t>Phase</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ED7D31"/>
                    </a:solidFill>
                  </a:tcPr>
                </a:tc>
                <a:tc>
                  <a:txBody>
                    <a:bodyPr/>
                    <a:lstStyle/>
                    <a:p>
                      <a:r>
                        <a:rPr lang="en-GB" sz="1800" b="1" strike="noStrike" spc="-1">
                          <a:solidFill>
                            <a:srgbClr val="FFFFFF"/>
                          </a:solidFill>
                          <a:latin typeface="Calibri"/>
                        </a:rPr>
                        <a:t>Who</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ED7D31"/>
                    </a:solidFill>
                  </a:tcPr>
                </a:tc>
                <a:tc>
                  <a:txBody>
                    <a:bodyPr/>
                    <a:lstStyle/>
                    <a:p>
                      <a:r>
                        <a:rPr lang="en-GB" sz="1800" b="1" strike="noStrike" spc="-1">
                          <a:solidFill>
                            <a:srgbClr val="FFFFFF"/>
                          </a:solidFill>
                          <a:latin typeface="Calibri"/>
                        </a:rPr>
                        <a:t>How</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ED7D31"/>
                    </a:solidFill>
                  </a:tcPr>
                </a:tc>
                <a:tc>
                  <a:txBody>
                    <a:bodyPr/>
                    <a:lstStyle/>
                    <a:p>
                      <a:r>
                        <a:rPr lang="en-GB" sz="1800" b="1" strike="noStrike" spc="-1">
                          <a:solidFill>
                            <a:srgbClr val="FFFFFF"/>
                          </a:solidFill>
                          <a:latin typeface="Calibri"/>
                        </a:rPr>
                        <a:t>Avantages de Tri-Risk</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ED7D31"/>
                    </a:solidFill>
                  </a:tcPr>
                </a:tc>
                <a:extLst>
                  <a:ext uri="{0D108BD9-81ED-4DB2-BD59-A6C34878D82A}">
                    <a16:rowId xmlns:a16="http://schemas.microsoft.com/office/drawing/2014/main" val="10000"/>
                  </a:ext>
                </a:extLst>
              </a:tr>
              <a:tr h="1418400">
                <a:tc>
                  <a:txBody>
                    <a:bodyPr/>
                    <a:lstStyle/>
                    <a:p>
                      <a:r>
                        <a:rPr lang="en-GB" sz="1800" b="0" strike="noStrike" spc="-1">
                          <a:solidFill>
                            <a:srgbClr val="000000"/>
                          </a:solidFill>
                          <a:latin typeface="Calibri"/>
                        </a:rPr>
                        <a:t>1.Identifier les risques</a:t>
                      </a:r>
                      <a:endParaRPr lang="en-GB"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8D7CD"/>
                    </a:solidFill>
                  </a:tcPr>
                </a:tc>
                <a:tc>
                  <a:txBody>
                    <a:bodyPr/>
                    <a:lstStyle/>
                    <a:p>
                      <a:r>
                        <a:rPr lang="en-GB" sz="1800" b="0" strike="noStrike" spc="-1">
                          <a:solidFill>
                            <a:srgbClr val="000000"/>
                          </a:solidFill>
                          <a:latin typeface="Calibri"/>
                        </a:rPr>
                        <a:t>Tous les acteurs</a:t>
                      </a:r>
                      <a:endParaRPr lang="en-GB" sz="1800" b="0" strike="noStrike" spc="-1">
                        <a:latin typeface="Arial"/>
                      </a:endParaRPr>
                    </a:p>
                    <a:p>
                      <a:r>
                        <a:rPr lang="en-GB" sz="1800" b="0" strike="noStrike" spc="-1">
                          <a:solidFill>
                            <a:srgbClr val="000000"/>
                          </a:solidFill>
                          <a:latin typeface="Calibri"/>
                        </a:rPr>
                        <a:t>(Producteurs, Recycleurs</a:t>
                      </a:r>
                      <a:endParaRPr lang="en-GB" sz="1800" b="0" strike="noStrike" spc="-1">
                        <a:latin typeface="Arial"/>
                      </a:endParaRPr>
                    </a:p>
                    <a:p>
                      <a:r>
                        <a:rPr lang="en-GB" sz="1800" b="0" strike="noStrike" spc="-1">
                          <a:solidFill>
                            <a:srgbClr val="000000"/>
                          </a:solidFill>
                          <a:latin typeface="Calibri"/>
                        </a:rPr>
                        <a:t>Etat, citoyens, cabinets specialisés)</a:t>
                      </a:r>
                      <a:endParaRPr lang="en-GB"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8D7CD"/>
                    </a:solidFill>
                  </a:tcPr>
                </a:tc>
                <a:tc>
                  <a:txBody>
                    <a:bodyPr/>
                    <a:lstStyle/>
                    <a:p>
                      <a:r>
                        <a:rPr lang="en-GB" sz="1800" b="0" strike="noStrike" spc="-1">
                          <a:solidFill>
                            <a:srgbClr val="000000"/>
                          </a:solidFill>
                          <a:latin typeface="Calibri"/>
                        </a:rPr>
                        <a:t>Entretien téléphonique</a:t>
                      </a:r>
                      <a:endParaRPr lang="en-GB" sz="1800" b="0" strike="noStrike" spc="-1">
                        <a:latin typeface="Arial"/>
                      </a:endParaRPr>
                    </a:p>
                    <a:p>
                      <a:r>
                        <a:rPr lang="en-GB" sz="1800" b="0" strike="noStrike" spc="-1">
                          <a:solidFill>
                            <a:srgbClr val="000000"/>
                          </a:solidFill>
                          <a:latin typeface="Calibri"/>
                        </a:rPr>
                        <a:t>Saisie directe dans la plateforme</a:t>
                      </a:r>
                      <a:endParaRPr lang="en-GB" sz="1800" b="0" strike="noStrike" spc="-1">
                        <a:latin typeface="Arial"/>
                      </a:endParaRPr>
                    </a:p>
                    <a:p>
                      <a:r>
                        <a:rPr lang="en-GB" sz="1800" b="0" strike="noStrike" spc="-1">
                          <a:solidFill>
                            <a:srgbClr val="000000"/>
                          </a:solidFill>
                          <a:latin typeface="Calibri"/>
                        </a:rPr>
                        <a:t>Web Scrapping</a:t>
                      </a:r>
                      <a:endParaRPr lang="en-GB" sz="1800" b="0" strike="noStrike" spc="-1">
                        <a:latin typeface="Arial"/>
                      </a:endParaRPr>
                    </a:p>
                    <a:p>
                      <a:r>
                        <a:rPr lang="en-GB" sz="1800" b="0" strike="noStrike" spc="-1">
                          <a:solidFill>
                            <a:srgbClr val="000000"/>
                          </a:solidFill>
                          <a:latin typeface="Calibri"/>
                        </a:rPr>
                        <a:t>Databases scrapping</a:t>
                      </a:r>
                      <a:endParaRPr lang="en-GB"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8D7CD"/>
                    </a:solidFill>
                  </a:tcPr>
                </a:tc>
                <a:tc>
                  <a:txBody>
                    <a:bodyPr/>
                    <a:lstStyle/>
                    <a:p>
                      <a:r>
                        <a:rPr lang="en-GB" sz="1800" b="0" strike="noStrike" spc="-1">
                          <a:solidFill>
                            <a:srgbClr val="000000"/>
                          </a:solidFill>
                          <a:latin typeface="Calibri"/>
                        </a:rPr>
                        <a:t>Centralisation de l’information</a:t>
                      </a:r>
                      <a:endParaRPr lang="en-GB" sz="1800" b="0" strike="noStrike" spc="-1">
                        <a:latin typeface="Arial"/>
                      </a:endParaRPr>
                    </a:p>
                    <a:p>
                      <a:r>
                        <a:rPr lang="en-GB" sz="1800" b="0" strike="noStrike" spc="-1">
                          <a:solidFill>
                            <a:srgbClr val="000000"/>
                          </a:solidFill>
                          <a:latin typeface="Calibri"/>
                        </a:rPr>
                        <a:t>Création du lien entre acteurs</a:t>
                      </a:r>
                      <a:endParaRPr lang="en-GB"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8D7CD"/>
                    </a:solidFill>
                  </a:tcPr>
                </a:tc>
                <a:extLst>
                  <a:ext uri="{0D108BD9-81ED-4DB2-BD59-A6C34878D82A}">
                    <a16:rowId xmlns:a16="http://schemas.microsoft.com/office/drawing/2014/main" val="10001"/>
                  </a:ext>
                </a:extLst>
              </a:tr>
              <a:tr h="1153080">
                <a:tc>
                  <a:txBody>
                    <a:bodyPr/>
                    <a:lstStyle/>
                    <a:p>
                      <a:r>
                        <a:rPr lang="en-GB" sz="1800" b="0" strike="noStrike" spc="-1">
                          <a:solidFill>
                            <a:srgbClr val="000000"/>
                          </a:solidFill>
                          <a:latin typeface="Calibri"/>
                        </a:rPr>
                        <a:t>2.Analyser les risques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tc>
                  <a:txBody>
                    <a:bodyPr/>
                    <a:lstStyle/>
                    <a:p>
                      <a:r>
                        <a:rPr lang="en-GB" sz="1800" b="0" strike="noStrike" spc="-1">
                          <a:solidFill>
                            <a:srgbClr val="000000"/>
                          </a:solidFill>
                          <a:latin typeface="Calibri"/>
                        </a:rPr>
                        <a:t>Producteurs de biens</a:t>
                      </a:r>
                      <a:endParaRPr lang="en-GB" sz="1800" b="0" strike="noStrike" spc="-1">
                        <a:latin typeface="Arial"/>
                      </a:endParaRPr>
                    </a:p>
                    <a:p>
                      <a:r>
                        <a:rPr lang="en-GB" sz="1800" b="0" strike="noStrike" spc="-1">
                          <a:solidFill>
                            <a:srgbClr val="000000"/>
                          </a:solidFill>
                          <a:latin typeface="Calibri"/>
                        </a:rPr>
                        <a:t>Recycleurs</a:t>
                      </a:r>
                      <a:endParaRPr lang="en-GB" sz="1800" b="0" strike="noStrike" spc="-1">
                        <a:latin typeface="Arial"/>
                      </a:endParaRPr>
                    </a:p>
                    <a:p>
                      <a:r>
                        <a:rPr lang="en-GB" sz="1800" b="0" strike="noStrike" spc="-1">
                          <a:solidFill>
                            <a:srgbClr val="000000"/>
                          </a:solidFill>
                          <a:latin typeface="Calibri"/>
                        </a:rPr>
                        <a:t>Etat</a:t>
                      </a:r>
                      <a:endParaRPr lang="en-GB" sz="1800" b="0" strike="noStrike" spc="-1">
                        <a:latin typeface="Arial"/>
                      </a:endParaRPr>
                    </a:p>
                    <a:p>
                      <a:r>
                        <a:rPr lang="en-GB" sz="1800" b="0" strike="noStrike" spc="-1">
                          <a:solidFill>
                            <a:srgbClr val="000000"/>
                          </a:solidFill>
                          <a:latin typeface="Calibri"/>
                        </a:rPr>
                        <a:t>Cabinets sp</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tc>
                  <a:txBody>
                    <a:bodyPr/>
                    <a:lstStyle/>
                    <a:p>
                      <a:r>
                        <a:rPr lang="en-GB" sz="1800" b="0" strike="noStrike" spc="-1">
                          <a:solidFill>
                            <a:srgbClr val="000000"/>
                          </a:solidFill>
                          <a:latin typeface="Calibri"/>
                        </a:rPr>
                        <a:t>Heatmap</a:t>
                      </a:r>
                      <a:endParaRPr lang="en-GB" sz="1800" b="0" strike="noStrike" spc="-1">
                        <a:latin typeface="Arial"/>
                      </a:endParaRPr>
                    </a:p>
                    <a:p>
                      <a:r>
                        <a:rPr lang="en-GB" sz="1800" b="0" strike="noStrike" spc="-1">
                          <a:solidFill>
                            <a:srgbClr val="000000"/>
                          </a:solidFill>
                          <a:latin typeface="Calibri"/>
                        </a:rPr>
                        <a:t>Network analysis</a:t>
                      </a:r>
                      <a:endParaRPr lang="en-GB" sz="1800" b="0" strike="noStrike" spc="-1">
                        <a:latin typeface="Arial"/>
                      </a:endParaRPr>
                    </a:p>
                    <a:p>
                      <a:r>
                        <a:rPr lang="en-GB" sz="1800" b="0" strike="noStrike" spc="-1">
                          <a:solidFill>
                            <a:srgbClr val="000000"/>
                          </a:solidFill>
                          <a:latin typeface="Calibri"/>
                        </a:rPr>
                        <a:t>Maps</a:t>
                      </a:r>
                      <a:endParaRPr lang="en-GB" sz="1800" b="0" strike="noStrike" spc="-1">
                        <a:latin typeface="Arial"/>
                      </a:endParaRPr>
                    </a:p>
                    <a:p>
                      <a:r>
                        <a:rPr lang="en-GB" sz="1800" b="0" strike="noStrike" spc="-1">
                          <a:solidFill>
                            <a:srgbClr val="000000"/>
                          </a:solidFill>
                          <a:latin typeface="Calibri"/>
                        </a:rPr>
                        <a:t>Statistics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tc>
                  <a:txBody>
                    <a:bodyPr/>
                    <a:lstStyle/>
                    <a:p>
                      <a:r>
                        <a:rPr lang="en-GB" sz="1800" b="0" strike="noStrike" spc="-1">
                          <a:solidFill>
                            <a:srgbClr val="000000"/>
                          </a:solidFill>
                          <a:latin typeface="Calibri"/>
                        </a:rPr>
                        <a:t>NLP classification</a:t>
                      </a:r>
                      <a:endParaRPr lang="en-GB" sz="1800" b="0" strike="noStrike" spc="-1">
                        <a:latin typeface="Arial"/>
                      </a:endParaRPr>
                    </a:p>
                    <a:p>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extLst>
                  <a:ext uri="{0D108BD9-81ED-4DB2-BD59-A6C34878D82A}">
                    <a16:rowId xmlns:a16="http://schemas.microsoft.com/office/drawing/2014/main" val="10002"/>
                  </a:ext>
                </a:extLst>
              </a:tr>
              <a:tr h="622440">
                <a:tc>
                  <a:txBody>
                    <a:bodyPr/>
                    <a:lstStyle/>
                    <a:p>
                      <a:r>
                        <a:rPr lang="en-GB" sz="1800" b="0" strike="noStrike" spc="-1">
                          <a:solidFill>
                            <a:srgbClr val="000000"/>
                          </a:solidFill>
                          <a:latin typeface="Calibri"/>
                        </a:rPr>
                        <a:t>3.Plan d’action</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GB" sz="1800" b="0" strike="noStrike" spc="-1">
                          <a:solidFill>
                            <a:srgbClr val="000000"/>
                          </a:solidFill>
                          <a:latin typeface="Calibri"/>
                        </a:rPr>
                        <a:t>Acteurs avec support de cabinets spécialisés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GB" sz="1800" b="0" strike="noStrike" spc="-1">
                          <a:solidFill>
                            <a:srgbClr val="000000"/>
                          </a:solidFill>
                          <a:latin typeface="Calibri"/>
                        </a:rPr>
                        <a:t>Si approprié canalisé dans des projets de loi.</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GB" sz="1800" b="0" strike="noStrike" spc="-1">
                          <a:solidFill>
                            <a:srgbClr val="000000"/>
                          </a:solidFill>
                          <a:latin typeface="Calibri"/>
                        </a:rPr>
                        <a:t>Identification aisée des synergies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extLst>
                  <a:ext uri="{0D108BD9-81ED-4DB2-BD59-A6C34878D82A}">
                    <a16:rowId xmlns:a16="http://schemas.microsoft.com/office/drawing/2014/main" val="10003"/>
                  </a:ext>
                </a:extLst>
              </a:tr>
              <a:tr h="887760">
                <a:tc>
                  <a:txBody>
                    <a:bodyPr/>
                    <a:lstStyle/>
                    <a:p>
                      <a:r>
                        <a:rPr lang="en-GB" sz="1800" b="0" strike="noStrike" spc="-1">
                          <a:solidFill>
                            <a:srgbClr val="000000"/>
                          </a:solidFill>
                          <a:latin typeface="Calibri"/>
                        </a:rPr>
                        <a:t>4.Implémentation du plan</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tc>
                  <a:txBody>
                    <a:bodyPr/>
                    <a:lstStyle/>
                    <a:p>
                      <a:r>
                        <a:rPr lang="en-GB" sz="1800" b="0" strike="noStrike" spc="-1">
                          <a:solidFill>
                            <a:srgbClr val="000000"/>
                          </a:solidFill>
                          <a:latin typeface="Calibri"/>
                        </a:rPr>
                        <a:t>Acteurs avec support de cabinets spécialisés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tc>
                  <a:txBody>
                    <a:bodyPr/>
                    <a:lstStyle/>
                    <a:p>
                      <a:r>
                        <a:rPr lang="en-GB" sz="1800" b="0" strike="noStrike" spc="-1">
                          <a:solidFill>
                            <a:srgbClr val="000000"/>
                          </a:solidFill>
                          <a:latin typeface="Calibri"/>
                        </a:rPr>
                        <a:t>Support pour audit avec croisement d’info bases de données de tri</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BECE7"/>
                    </a:solidFill>
                  </a:tcPr>
                </a:tc>
                <a:extLst>
                  <a:ext uri="{0D108BD9-81ED-4DB2-BD59-A6C34878D82A}">
                    <a16:rowId xmlns:a16="http://schemas.microsoft.com/office/drawing/2014/main" val="10004"/>
                  </a:ext>
                </a:extLst>
              </a:tr>
              <a:tr h="887760">
                <a:tc>
                  <a:txBody>
                    <a:bodyPr/>
                    <a:lstStyle/>
                    <a:p>
                      <a:r>
                        <a:rPr lang="en-GB" sz="1800" b="0" strike="noStrike" spc="-1">
                          <a:solidFill>
                            <a:srgbClr val="000000"/>
                          </a:solidFill>
                          <a:latin typeface="Calibri"/>
                        </a:rPr>
                        <a:t>5.Ré-evaluation des risques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GB" sz="1800" b="0" strike="noStrike" spc="-1">
                          <a:solidFill>
                            <a:srgbClr val="000000"/>
                          </a:solidFill>
                          <a:latin typeface="Calibri"/>
                        </a:rPr>
                        <a:t>Tous les acteurs</a:t>
                      </a:r>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GB" sz="1800" b="0" strike="noStrike" spc="-1">
                          <a:solidFill>
                            <a:srgbClr val="000000"/>
                          </a:solidFill>
                          <a:latin typeface="Calibri"/>
                        </a:rPr>
                        <a:t>Workshop</a:t>
                      </a:r>
                      <a:endParaRPr lang="en-GB" sz="1800" b="0" strike="noStrike" spc="-1">
                        <a:latin typeface="Arial"/>
                      </a:endParaRPr>
                    </a:p>
                    <a:p>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GB" sz="1800" b="0" strike="noStrike" spc="-1">
                          <a:solidFill>
                            <a:srgbClr val="000000"/>
                          </a:solidFill>
                          <a:latin typeface="Calibri"/>
                        </a:rPr>
                        <a:t>Ready for web conference</a:t>
                      </a:r>
                      <a:endParaRPr lang="en-GB" sz="1800" b="0" strike="noStrike" spc="-1">
                        <a:latin typeface="Arial"/>
                      </a:endParaRPr>
                    </a:p>
                    <a:p>
                      <a:endParaRPr lang="en-GB"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extLst>
                  <a:ext uri="{0D108BD9-81ED-4DB2-BD59-A6C34878D82A}">
                    <a16:rowId xmlns:a16="http://schemas.microsoft.com/office/drawing/2014/main" val="10005"/>
                  </a:ext>
                </a:extLst>
              </a:tr>
            </a:tbl>
          </a:graphicData>
        </a:graphic>
      </p:graphicFrame>
      <p:sp>
        <p:nvSpPr>
          <p:cNvPr id="238" name="CustomShape 3"/>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2"/>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extShape 1"/>
          <p:cNvSpPr txBox="1"/>
          <p:nvPr/>
        </p:nvSpPr>
        <p:spPr>
          <a:xfrm>
            <a:off x="838080" y="365040"/>
            <a:ext cx="10515240" cy="833400"/>
          </a:xfrm>
          <a:prstGeom prst="rect">
            <a:avLst/>
          </a:prstGeom>
          <a:noFill/>
          <a:ln>
            <a:noFill/>
          </a:ln>
        </p:spPr>
        <p:txBody>
          <a:bodyPr anchor="ctr"/>
          <a:lstStyle/>
          <a:p>
            <a:pPr>
              <a:lnSpc>
                <a:spcPct val="90000"/>
              </a:lnSpc>
            </a:pPr>
            <a:r>
              <a:rPr lang="fr-FR" sz="4400" b="1" strike="noStrike" spc="-1">
                <a:solidFill>
                  <a:srgbClr val="000000"/>
                </a:solidFill>
                <a:latin typeface="Calibri Light"/>
              </a:rPr>
              <a:t>Sommaire: business plan</a:t>
            </a:r>
            <a:endParaRPr lang="fr-FR" sz="4400" b="0" strike="noStrike" spc="-1">
              <a:solidFill>
                <a:srgbClr val="000000"/>
              </a:solidFill>
              <a:latin typeface="Calibri"/>
            </a:endParaRPr>
          </a:p>
        </p:txBody>
      </p:sp>
      <p:graphicFrame>
        <p:nvGraphicFramePr>
          <p:cNvPr id="240" name="Table 2"/>
          <p:cNvGraphicFramePr/>
          <p:nvPr/>
        </p:nvGraphicFramePr>
        <p:xfrm>
          <a:off x="216000" y="1198800"/>
          <a:ext cx="11735640" cy="5095440"/>
        </p:xfrm>
        <a:graphic>
          <a:graphicData uri="http://schemas.openxmlformats.org/drawingml/2006/table">
            <a:tbl>
              <a:tblPr/>
              <a:tblGrid>
                <a:gridCol w="3911400">
                  <a:extLst>
                    <a:ext uri="{9D8B030D-6E8A-4147-A177-3AD203B41FA5}">
                      <a16:colId xmlns:a16="http://schemas.microsoft.com/office/drawing/2014/main" val="20000"/>
                    </a:ext>
                  </a:extLst>
                </a:gridCol>
                <a:gridCol w="3911400">
                  <a:extLst>
                    <a:ext uri="{9D8B030D-6E8A-4147-A177-3AD203B41FA5}">
                      <a16:colId xmlns:a16="http://schemas.microsoft.com/office/drawing/2014/main" val="20001"/>
                    </a:ext>
                  </a:extLst>
                </a:gridCol>
                <a:gridCol w="3912840">
                  <a:extLst>
                    <a:ext uri="{9D8B030D-6E8A-4147-A177-3AD203B41FA5}">
                      <a16:colId xmlns:a16="http://schemas.microsoft.com/office/drawing/2014/main" val="20002"/>
                    </a:ext>
                  </a:extLst>
                </a:gridCol>
              </a:tblGrid>
              <a:tr h="814320">
                <a:tc>
                  <a:txBody>
                    <a:bodyPr/>
                    <a:lstStyle/>
                    <a:p>
                      <a:pPr>
                        <a:lnSpc>
                          <a:spcPct val="100000"/>
                        </a:lnSpc>
                      </a:pPr>
                      <a:r>
                        <a:rPr lang="en-GB" sz="2600" b="1" strike="noStrike" spc="-1">
                          <a:solidFill>
                            <a:srgbClr val="FFFFFF"/>
                          </a:solidFill>
                          <a:latin typeface="Calibri"/>
                        </a:rPr>
                        <a:t>Acteur</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70AD47"/>
                    </a:solidFill>
                  </a:tcPr>
                </a:tc>
                <a:tc>
                  <a:txBody>
                    <a:bodyPr/>
                    <a:lstStyle/>
                    <a:p>
                      <a:pPr>
                        <a:lnSpc>
                          <a:spcPct val="100000"/>
                        </a:lnSpc>
                      </a:pPr>
                      <a:r>
                        <a:rPr lang="en-GB" sz="2600" b="1" strike="noStrike" spc="-1">
                          <a:solidFill>
                            <a:srgbClr val="FFFFFF"/>
                          </a:solidFill>
                          <a:latin typeface="Calibri"/>
                        </a:rPr>
                        <a:t>Contribution</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70AD47"/>
                    </a:solidFill>
                  </a:tcPr>
                </a:tc>
                <a:tc>
                  <a:txBody>
                    <a:bodyPr/>
                    <a:lstStyle/>
                    <a:p>
                      <a:pPr>
                        <a:lnSpc>
                          <a:spcPct val="100000"/>
                        </a:lnSpc>
                      </a:pPr>
                      <a:r>
                        <a:rPr lang="en-GB" sz="2600" b="1" strike="noStrike" spc="-1">
                          <a:solidFill>
                            <a:srgbClr val="FFFFFF"/>
                          </a:solidFill>
                          <a:latin typeface="Calibri"/>
                        </a:rPr>
                        <a:t>Gain</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70AD47"/>
                    </a:solidFill>
                  </a:tcPr>
                </a:tc>
                <a:extLst>
                  <a:ext uri="{0D108BD9-81ED-4DB2-BD59-A6C34878D82A}">
                    <a16:rowId xmlns:a16="http://schemas.microsoft.com/office/drawing/2014/main" val="10000"/>
                  </a:ext>
                </a:extLst>
              </a:tr>
              <a:tr h="814320">
                <a:tc>
                  <a:txBody>
                    <a:bodyPr/>
                    <a:lstStyle/>
                    <a:p>
                      <a:pPr>
                        <a:lnSpc>
                          <a:spcPct val="100000"/>
                        </a:lnSpc>
                      </a:pPr>
                      <a:r>
                        <a:rPr lang="en-GB" sz="2600" b="0" strike="noStrike" spc="-1">
                          <a:solidFill>
                            <a:srgbClr val="000000"/>
                          </a:solidFill>
                          <a:latin typeface="Calibri"/>
                        </a:rPr>
                        <a:t>Recycleurs, Producteurs, Etat</a:t>
                      </a:r>
                      <a:endParaRPr lang="en-GB" sz="26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4E2CF"/>
                    </a:solidFill>
                  </a:tcPr>
                </a:tc>
                <a:tc>
                  <a:txBody>
                    <a:bodyPr/>
                    <a:lstStyle/>
                    <a:p>
                      <a:pPr>
                        <a:lnSpc>
                          <a:spcPct val="100000"/>
                        </a:lnSpc>
                      </a:pPr>
                      <a:r>
                        <a:rPr lang="en-GB" sz="2600" b="0" strike="noStrike" spc="-1">
                          <a:solidFill>
                            <a:srgbClr val="000000"/>
                          </a:solidFill>
                          <a:latin typeface="Calibri"/>
                        </a:rPr>
                        <a:t>mensualités pour accès à la plateforme</a:t>
                      </a:r>
                      <a:endParaRPr lang="en-GB" sz="26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4E2CF"/>
                    </a:solidFill>
                  </a:tcPr>
                </a:tc>
                <a:tc>
                  <a:txBody>
                    <a:bodyPr/>
                    <a:lstStyle/>
                    <a:p>
                      <a:pPr>
                        <a:lnSpc>
                          <a:spcPct val="100000"/>
                        </a:lnSpc>
                      </a:pPr>
                      <a:r>
                        <a:rPr lang="en-GB" sz="2600" b="0" strike="noStrike" spc="-1">
                          <a:solidFill>
                            <a:srgbClr val="000000"/>
                          </a:solidFill>
                          <a:latin typeface="Calibri"/>
                        </a:rPr>
                        <a:t>Amélioration du recyclage</a:t>
                      </a:r>
                      <a:endParaRPr lang="en-GB" sz="26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4E2CF"/>
                    </a:solidFill>
                  </a:tcPr>
                </a:tc>
                <a:extLst>
                  <a:ext uri="{0D108BD9-81ED-4DB2-BD59-A6C34878D82A}">
                    <a16:rowId xmlns:a16="http://schemas.microsoft.com/office/drawing/2014/main" val="10001"/>
                  </a:ext>
                </a:extLst>
              </a:tr>
              <a:tr h="814320">
                <a:tc>
                  <a:txBody>
                    <a:bodyPr/>
                    <a:lstStyle/>
                    <a:p>
                      <a:pPr>
                        <a:lnSpc>
                          <a:spcPct val="100000"/>
                        </a:lnSpc>
                      </a:pPr>
                      <a:r>
                        <a:rPr lang="en-GB" sz="2600" b="0" strike="noStrike" spc="-1">
                          <a:solidFill>
                            <a:srgbClr val="000000"/>
                          </a:solidFill>
                          <a:latin typeface="Calibri"/>
                        </a:rPr>
                        <a:t>Cabinets spécialisés</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BF1E8"/>
                    </a:solidFill>
                  </a:tcPr>
                </a:tc>
                <a:tc>
                  <a:txBody>
                    <a:bodyPr/>
                    <a:lstStyle/>
                    <a:p>
                      <a:pPr>
                        <a:lnSpc>
                          <a:spcPct val="100000"/>
                        </a:lnSpc>
                      </a:pPr>
                      <a:r>
                        <a:rPr lang="en-GB" sz="2600" b="0" strike="noStrike" spc="-1">
                          <a:solidFill>
                            <a:srgbClr val="000000"/>
                          </a:solidFill>
                          <a:latin typeface="Calibri"/>
                        </a:rPr>
                        <a:t>commission sur les ventes</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BF1E8"/>
                    </a:solidFill>
                  </a:tcPr>
                </a:tc>
                <a:tc>
                  <a:txBody>
                    <a:bodyPr/>
                    <a:lstStyle/>
                    <a:p>
                      <a:pPr>
                        <a:lnSpc>
                          <a:spcPct val="100000"/>
                        </a:lnSpc>
                      </a:pPr>
                      <a:r>
                        <a:rPr lang="en-GB" sz="2600" b="0" strike="noStrike" spc="-1">
                          <a:solidFill>
                            <a:srgbClr val="000000"/>
                          </a:solidFill>
                          <a:latin typeface="Calibri"/>
                        </a:rPr>
                        <a:t>Augmentation des ventes de consulting</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BF1E8"/>
                    </a:solidFill>
                  </a:tcPr>
                </a:tc>
                <a:extLst>
                  <a:ext uri="{0D108BD9-81ED-4DB2-BD59-A6C34878D82A}">
                    <a16:rowId xmlns:a16="http://schemas.microsoft.com/office/drawing/2014/main" val="10002"/>
                  </a:ext>
                </a:extLst>
              </a:tr>
              <a:tr h="814320">
                <a:tc>
                  <a:txBody>
                    <a:bodyPr/>
                    <a:lstStyle/>
                    <a:p>
                      <a:pPr>
                        <a:lnSpc>
                          <a:spcPct val="100000"/>
                        </a:lnSpc>
                      </a:pPr>
                      <a:r>
                        <a:rPr lang="en-GB" sz="2600" b="0" strike="noStrike" spc="-1">
                          <a:solidFill>
                            <a:srgbClr val="000000"/>
                          </a:solidFill>
                          <a:latin typeface="Calibri"/>
                        </a:rPr>
                        <a:t>Citoyens</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4E2CF"/>
                    </a:solidFill>
                  </a:tcPr>
                </a:tc>
                <a:tc>
                  <a:txBody>
                    <a:bodyPr/>
                    <a:lstStyle/>
                    <a:p>
                      <a:pPr>
                        <a:lnSpc>
                          <a:spcPct val="100000"/>
                        </a:lnSpc>
                      </a:pPr>
                      <a:r>
                        <a:rPr lang="en-GB" sz="2600" b="0" strike="noStrike" spc="-1">
                          <a:solidFill>
                            <a:srgbClr val="000000"/>
                          </a:solidFill>
                          <a:latin typeface="Calibri"/>
                        </a:rPr>
                        <a:t>Saisie de données</a:t>
                      </a:r>
                      <a:endParaRPr lang="en-GB" sz="2600" b="0" strike="noStrike" spc="-1">
                        <a:latin typeface="Arial"/>
                      </a:endParaRPr>
                    </a:p>
                    <a:p>
                      <a:pPr>
                        <a:lnSpc>
                          <a:spcPct val="100000"/>
                        </a:lnSpc>
                      </a:pPr>
                      <a:r>
                        <a:rPr lang="en-GB" sz="2600" b="0" strike="noStrike" spc="-1">
                          <a:solidFill>
                            <a:srgbClr val="000000"/>
                          </a:solidFill>
                          <a:latin typeface="Calibri"/>
                        </a:rPr>
                        <a:t>(plateforme gratuite)</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4E2CF"/>
                    </a:solidFill>
                  </a:tcPr>
                </a:tc>
                <a:tc>
                  <a:txBody>
                    <a:bodyPr/>
                    <a:lstStyle/>
                    <a:p>
                      <a:pPr>
                        <a:lnSpc>
                          <a:spcPct val="100000"/>
                        </a:lnSpc>
                      </a:pPr>
                      <a:r>
                        <a:rPr lang="en-GB" sz="2600" b="0" strike="noStrike" spc="-1">
                          <a:solidFill>
                            <a:srgbClr val="000000"/>
                          </a:solidFill>
                          <a:latin typeface="Calibri"/>
                        </a:rPr>
                        <a:t>Information</a:t>
                      </a:r>
                      <a:endParaRPr lang="en-GB" sz="2600" b="0" strike="noStrike" spc="-1">
                        <a:latin typeface="Arial"/>
                      </a:endParaRPr>
                    </a:p>
                    <a:p>
                      <a:pPr>
                        <a:lnSpc>
                          <a:spcPct val="100000"/>
                        </a:lnSpc>
                      </a:pPr>
                      <a:r>
                        <a:rPr lang="en-GB" sz="2600" b="0" strike="noStrike" spc="-1">
                          <a:solidFill>
                            <a:srgbClr val="000000"/>
                          </a:solidFill>
                          <a:latin typeface="Calibri"/>
                        </a:rPr>
                        <a:t>Citoyenneté</a:t>
                      </a:r>
                      <a:endParaRPr lang="en-GB" sz="26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4E2CF"/>
                    </a:solidFill>
                  </a:tcPr>
                </a:tc>
                <a:extLst>
                  <a:ext uri="{0D108BD9-81ED-4DB2-BD59-A6C34878D82A}">
                    <a16:rowId xmlns:a16="http://schemas.microsoft.com/office/drawing/2014/main" val="10003"/>
                  </a:ext>
                </a:extLst>
              </a:tr>
              <a:tr h="814320">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EBF1E8"/>
                    </a:solidFill>
                  </a:tcPr>
                </a:tc>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EBF1E8"/>
                    </a:solidFill>
                  </a:tcPr>
                </a:tc>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EBF1E8"/>
                    </a:solidFill>
                  </a:tcPr>
                </a:tc>
                <a:extLst>
                  <a:ext uri="{0D108BD9-81ED-4DB2-BD59-A6C34878D82A}">
                    <a16:rowId xmlns:a16="http://schemas.microsoft.com/office/drawing/2014/main" val="10004"/>
                  </a:ext>
                </a:extLst>
              </a:tr>
              <a:tr h="815040">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D4E2CF"/>
                    </a:solidFill>
                  </a:tcPr>
                </a:tc>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D4E2CF"/>
                    </a:solidFill>
                  </a:tcPr>
                </a:tc>
                <a:tc>
                  <a:txBody>
                    <a:bodyPr/>
                    <a:lstStyle/>
                    <a:p>
                      <a:endParaRPr lang="fr-FR"/>
                    </a:p>
                  </a:txBody>
                  <a:tcPr>
                    <a:lnL w="12240">
                      <a:solidFill>
                        <a:srgbClr val="FFFFFF"/>
                      </a:solidFill>
                    </a:lnL>
                    <a:lnR w="12240">
                      <a:solidFill>
                        <a:srgbClr val="FFFFFF"/>
                      </a:solidFill>
                    </a:lnR>
                    <a:lnT w="12240">
                      <a:solidFill>
                        <a:srgbClr val="FFFFFF"/>
                      </a:solidFill>
                    </a:lnT>
                    <a:lnB w="12240">
                      <a:solidFill>
                        <a:srgbClr val="FFFFFF"/>
                      </a:solidFill>
                    </a:lnB>
                    <a:solidFill>
                      <a:srgbClr val="D4E2CF"/>
                    </a:solidFill>
                  </a:tcPr>
                </a:tc>
                <a:extLst>
                  <a:ext uri="{0D108BD9-81ED-4DB2-BD59-A6C34878D82A}">
                    <a16:rowId xmlns:a16="http://schemas.microsoft.com/office/drawing/2014/main" val="10005"/>
                  </a:ext>
                </a:extLst>
              </a:tr>
            </a:tbl>
          </a:graphicData>
        </a:graphic>
      </p:graphicFrame>
      <p:sp>
        <p:nvSpPr>
          <p:cNvPr id="241" name="CustomShape 3"/>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11.2020 João Ramalho • </a:t>
            </a:r>
            <a:r>
              <a:rPr lang="en-GB" sz="900" b="0" u="sng" strike="noStrike" spc="-1">
                <a:solidFill>
                  <a:srgbClr val="0563C1"/>
                </a:solidFill>
                <a:uFillTx/>
                <a:latin typeface="Calibri"/>
                <a:hlinkClick r:id="rId2"/>
              </a:rPr>
              <a:t>joao.ramalho@rdor.nestle.com</a:t>
            </a:r>
            <a:endParaRPr lang="en-GB"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TextShape 1"/>
          <p:cNvSpPr txBox="1"/>
          <p:nvPr/>
        </p:nvSpPr>
        <p:spPr>
          <a:xfrm>
            <a:off x="155880" y="0"/>
            <a:ext cx="10359360" cy="1053360"/>
          </a:xfrm>
          <a:prstGeom prst="rect">
            <a:avLst/>
          </a:prstGeom>
          <a:noFill/>
          <a:ln>
            <a:noFill/>
          </a:ln>
        </p:spPr>
        <p:txBody>
          <a:bodyPr anchor="ctr"/>
          <a:lstStyle/>
          <a:p>
            <a:pPr>
              <a:lnSpc>
                <a:spcPct val="90000"/>
              </a:lnSpc>
            </a:pPr>
            <a:r>
              <a:rPr lang="fr-FR" sz="4400" b="1" strike="noStrike" spc="-1">
                <a:solidFill>
                  <a:srgbClr val="000000"/>
                </a:solidFill>
                <a:latin typeface="Calibri Light"/>
              </a:rPr>
              <a:t>Backups</a:t>
            </a:r>
            <a:endParaRPr lang="fr-FR" sz="4400" b="0" strike="noStrike" spc="-1">
              <a:solidFill>
                <a:srgbClr val="000000"/>
              </a:solidFill>
              <a:latin typeface="Calibri"/>
            </a:endParaRPr>
          </a:p>
        </p:txBody>
      </p:sp>
      <p:sp>
        <p:nvSpPr>
          <p:cNvPr id="243" name="CustomShape 2"/>
          <p:cNvSpPr/>
          <p:nvPr/>
        </p:nvSpPr>
        <p:spPr>
          <a:xfrm>
            <a:off x="155880" y="5468040"/>
            <a:ext cx="4813200" cy="132516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nSpc>
                <a:spcPct val="90000"/>
              </a:lnSpc>
            </a:pPr>
            <a:r>
              <a:rPr lang="en-GB" sz="2800" b="1" strike="noStrike" spc="-1">
                <a:solidFill>
                  <a:srgbClr val="000000"/>
                </a:solidFill>
                <a:latin typeface="Calibri Light"/>
              </a:rPr>
              <a:t>Risk Management </a:t>
            </a:r>
            <a:endParaRPr lang="en-GB" sz="2800" b="0" strike="noStrike" spc="-1">
              <a:latin typeface="Arial"/>
            </a:endParaRPr>
          </a:p>
          <a:p>
            <a:pPr>
              <a:lnSpc>
                <a:spcPct val="90000"/>
              </a:lnSpc>
            </a:pPr>
            <a:r>
              <a:rPr lang="en-GB" sz="2800" b="0" strike="noStrike" spc="-1">
                <a:solidFill>
                  <a:srgbClr val="000000"/>
                </a:solidFill>
                <a:latin typeface="Calibri Light"/>
              </a:rPr>
              <a:t>J.Ramalho 12.11.2020</a:t>
            </a:r>
            <a:endParaRPr lang="en-GB" sz="2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B7D6-7099-4FCD-ADA5-696C7F88EE84}"/>
              </a:ext>
            </a:extLst>
          </p:cNvPr>
          <p:cNvSpPr>
            <a:spLocks noGrp="1"/>
          </p:cNvSpPr>
          <p:nvPr>
            <p:ph type="title"/>
          </p:nvPr>
        </p:nvSpPr>
        <p:spPr/>
        <p:txBody>
          <a:bodyPr/>
          <a:lstStyle/>
          <a:p>
            <a:r>
              <a:rPr lang="fr-CH"/>
              <a:t>Next steps</a:t>
            </a:r>
          </a:p>
        </p:txBody>
      </p:sp>
      <p:sp>
        <p:nvSpPr>
          <p:cNvPr id="3" name="Text Placeholder 2">
            <a:extLst>
              <a:ext uri="{FF2B5EF4-FFF2-40B4-BE49-F238E27FC236}">
                <a16:creationId xmlns:a16="http://schemas.microsoft.com/office/drawing/2014/main" id="{A5965BCC-AD50-4200-834E-4E247054E0A4}"/>
              </a:ext>
            </a:extLst>
          </p:cNvPr>
          <p:cNvSpPr>
            <a:spLocks noGrp="1"/>
          </p:cNvSpPr>
          <p:nvPr>
            <p:ph type="body"/>
          </p:nvPr>
        </p:nvSpPr>
        <p:spPr>
          <a:xfrm>
            <a:off x="609480" y="1604520"/>
            <a:ext cx="8606709" cy="3977280"/>
          </a:xfrm>
        </p:spPr>
        <p:txBody>
          <a:bodyPr/>
          <a:lstStyle/>
          <a:p>
            <a:pPr marL="0" indent="0">
              <a:buNone/>
            </a:pPr>
            <a:r>
              <a:rPr lang="fr-CH"/>
              <a:t>Théo: Infrastructure Projet</a:t>
            </a:r>
          </a:p>
          <a:p>
            <a:pPr marL="0" indent="0">
              <a:buNone/>
            </a:pPr>
            <a:r>
              <a:rPr lang="fr-CH"/>
              <a:t>Kerstin: Road map App (y compris nlp)</a:t>
            </a:r>
          </a:p>
          <a:p>
            <a:pPr marL="0" indent="0">
              <a:buNone/>
            </a:pPr>
            <a:r>
              <a:rPr lang="fr-CH"/>
              <a:t>João: Road map métier</a:t>
            </a:r>
          </a:p>
          <a:p>
            <a:pPr marL="0" indent="0">
              <a:buNone/>
            </a:pPr>
            <a:r>
              <a:rPr lang="fr-CH"/>
              <a:t>Sélim: Data upload</a:t>
            </a:r>
          </a:p>
          <a:p>
            <a:pPr marL="0" indent="0">
              <a:buNone/>
            </a:pPr>
            <a:endParaRPr lang="fr-CH"/>
          </a:p>
          <a:p>
            <a:pPr marL="0" indent="0">
              <a:buNone/>
            </a:pPr>
            <a:r>
              <a:rPr lang="fr-CH"/>
              <a:t>Tous: trouver des partenaires métier (recyclage / aeronautique)</a:t>
            </a:r>
          </a:p>
          <a:p>
            <a:pPr marL="0" indent="0">
              <a:buNone/>
            </a:pPr>
            <a:endParaRPr lang="fr-CH"/>
          </a:p>
          <a:p>
            <a:pPr marL="0" indent="0">
              <a:buNone/>
            </a:pPr>
            <a:endParaRPr lang="fr-CH"/>
          </a:p>
        </p:txBody>
      </p:sp>
    </p:spTree>
    <p:extLst>
      <p:ext uri="{BB962C8B-B14F-4D97-AF65-F5344CB8AC3E}">
        <p14:creationId xmlns:p14="http://schemas.microsoft.com/office/powerpoint/2010/main" val="1644859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Shape 1"/>
          <p:cNvSpPr txBox="1"/>
          <p:nvPr/>
        </p:nvSpPr>
        <p:spPr>
          <a:xfrm>
            <a:off x="838080" y="365040"/>
            <a:ext cx="10515240" cy="860040"/>
          </a:xfrm>
          <a:prstGeom prst="rect">
            <a:avLst/>
          </a:prstGeom>
          <a:noFill/>
          <a:ln>
            <a:noFill/>
          </a:ln>
        </p:spPr>
        <p:txBody>
          <a:bodyPr anchor="ctr"/>
          <a:lstStyle/>
          <a:p>
            <a:pPr>
              <a:lnSpc>
                <a:spcPct val="90000"/>
              </a:lnSpc>
            </a:pPr>
            <a:r>
              <a:rPr lang="fr-FR" sz="4400" b="1" strike="noStrike" spc="-1">
                <a:solidFill>
                  <a:srgbClr val="000000"/>
                </a:solidFill>
                <a:latin typeface="Calibri Light"/>
              </a:rPr>
              <a:t>Risk Management Enablers</a:t>
            </a:r>
            <a:endParaRPr lang="fr-FR" sz="4400" b="0" strike="noStrike" spc="-1">
              <a:solidFill>
                <a:srgbClr val="000000"/>
              </a:solidFill>
              <a:latin typeface="Calibri"/>
            </a:endParaRPr>
          </a:p>
        </p:txBody>
      </p:sp>
      <p:sp>
        <p:nvSpPr>
          <p:cNvPr id="245" name="TextShape 2"/>
          <p:cNvSpPr txBox="1"/>
          <p:nvPr/>
        </p:nvSpPr>
        <p:spPr>
          <a:xfrm>
            <a:off x="944280" y="1924560"/>
            <a:ext cx="6128640" cy="4350960"/>
          </a:xfrm>
          <a:prstGeom prst="rect">
            <a:avLst/>
          </a:prstGeom>
          <a:noFill/>
          <a:ln>
            <a:noFill/>
          </a:ln>
        </p:spPr>
        <p:txBody>
          <a:bodyPr>
            <a:normAutofit/>
          </a:bodyPr>
          <a:lstStyle/>
          <a:p>
            <a:pPr>
              <a:lnSpc>
                <a:spcPct val="90000"/>
              </a:lnSpc>
              <a:spcBef>
                <a:spcPts val="1001"/>
              </a:spcBef>
            </a:pPr>
            <a:r>
              <a:rPr lang="fr-FR" sz="2800" b="0" strike="noStrike" spc="-1">
                <a:solidFill>
                  <a:srgbClr val="000000"/>
                </a:solidFill>
                <a:latin typeface="Calibri"/>
              </a:rPr>
              <a:t>Available resources</a:t>
            </a:r>
          </a:p>
          <a:p>
            <a:pPr>
              <a:lnSpc>
                <a:spcPct val="90000"/>
              </a:lnSpc>
              <a:spcBef>
                <a:spcPts val="1001"/>
              </a:spcBef>
            </a:pPr>
            <a:r>
              <a:rPr lang="fr-FR" sz="2800" b="0" strike="noStrike" spc="-1">
                <a:solidFill>
                  <a:srgbClr val="000000"/>
                </a:solidFill>
                <a:latin typeface="Calibri"/>
              </a:rPr>
              <a:t>Escalation paths</a:t>
            </a:r>
          </a:p>
          <a:p>
            <a:pPr>
              <a:lnSpc>
                <a:spcPct val="90000"/>
              </a:lnSpc>
              <a:spcBef>
                <a:spcPts val="1001"/>
              </a:spcBef>
            </a:pPr>
            <a:r>
              <a:rPr lang="fr-FR" sz="2800" b="0" strike="noStrike" spc="-1">
                <a:solidFill>
                  <a:srgbClr val="000000"/>
                </a:solidFill>
                <a:latin typeface="Calibri"/>
              </a:rPr>
              <a:t>Methodology</a:t>
            </a:r>
          </a:p>
          <a:p>
            <a:pPr>
              <a:lnSpc>
                <a:spcPct val="90000"/>
              </a:lnSpc>
              <a:spcBef>
                <a:spcPts val="1001"/>
              </a:spcBef>
            </a:pPr>
            <a:r>
              <a:rPr lang="fr-FR" sz="2800" b="0" strike="noStrike" spc="-1">
                <a:solidFill>
                  <a:srgbClr val="000000"/>
                </a:solidFill>
                <a:latin typeface="Calibri"/>
              </a:rPr>
              <a:t>Tools</a:t>
            </a:r>
          </a:p>
          <a:p>
            <a:pPr>
              <a:lnSpc>
                <a:spcPct val="90000"/>
              </a:lnSpc>
              <a:spcBef>
                <a:spcPts val="1001"/>
              </a:spcBef>
            </a:pPr>
            <a:r>
              <a:rPr lang="fr-FR" sz="2800" b="0" strike="noStrike" spc="-1">
                <a:solidFill>
                  <a:srgbClr val="000000"/>
                </a:solidFill>
                <a:latin typeface="Calibri"/>
              </a:rPr>
              <a:t>Infrastucture</a:t>
            </a:r>
          </a:p>
          <a:p>
            <a:pPr>
              <a:lnSpc>
                <a:spcPct val="90000"/>
              </a:lnSpc>
              <a:spcBef>
                <a:spcPts val="1001"/>
              </a:spcBef>
            </a:pPr>
            <a:r>
              <a:rPr lang="fr-FR" sz="2800" b="0" strike="noStrike" spc="-1">
                <a:solidFill>
                  <a:srgbClr val="000000"/>
                </a:solidFill>
                <a:latin typeface="Calibri"/>
              </a:rPr>
              <a:t>Rewing and updating cycle </a:t>
            </a:r>
          </a:p>
          <a:p>
            <a:pPr>
              <a:lnSpc>
                <a:spcPct val="90000"/>
              </a:lnSpc>
              <a:spcBef>
                <a:spcPts val="1001"/>
              </a:spcBef>
            </a:pPr>
            <a:r>
              <a:rPr lang="fr-FR" sz="2800" b="0" strike="noStrike" spc="-1">
                <a:solidFill>
                  <a:srgbClr val="000000"/>
                </a:solidFill>
                <a:latin typeface="Calibri"/>
              </a:rPr>
              <a:t>Reporting</a:t>
            </a:r>
          </a:p>
        </p:txBody>
      </p:sp>
      <p:sp>
        <p:nvSpPr>
          <p:cNvPr id="246" name="CustomShape 3"/>
          <p:cNvSpPr/>
          <p:nvPr/>
        </p:nvSpPr>
        <p:spPr>
          <a:xfrm>
            <a:off x="9286920" y="6546240"/>
            <a:ext cx="2887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09.2020 João Ramalho • </a:t>
            </a:r>
            <a:r>
              <a:rPr lang="en-GB" sz="900" b="0" u="sng" strike="noStrike" spc="-1">
                <a:solidFill>
                  <a:srgbClr val="0563C1"/>
                </a:solidFill>
                <a:uFillTx/>
                <a:latin typeface="Calibri"/>
                <a:hlinkClick r:id="rId2"/>
              </a:rPr>
              <a:t>joao.ramalho@rdor.nestle.com</a:t>
            </a:r>
            <a:endParaRPr lang="en-GB" sz="900" b="0" strike="noStrike" spc="-1">
              <a:latin typeface="Arial"/>
            </a:endParaRPr>
          </a:p>
        </p:txBody>
      </p:sp>
      <p:sp>
        <p:nvSpPr>
          <p:cNvPr id="247" name="Line 4"/>
          <p:cNvSpPr/>
          <p:nvPr/>
        </p:nvSpPr>
        <p:spPr>
          <a:xfrm>
            <a:off x="199800" y="6509880"/>
            <a:ext cx="11667600" cy="360"/>
          </a:xfrm>
          <a:prstGeom prst="line">
            <a:avLst/>
          </a:prstGeom>
          <a:ln w="12600">
            <a:solidFill>
              <a:schemeClr val="bg2">
                <a:lumMod val="75000"/>
              </a:schemeClr>
            </a:solidFill>
            <a:miter/>
          </a:ln>
        </p:spPr>
        <p:style>
          <a:lnRef idx="0">
            <a:scrgbClr r="0" g="0" b="0"/>
          </a:lnRef>
          <a:fillRef idx="0">
            <a:scrgbClr r="0" g="0" b="0"/>
          </a:fillRef>
          <a:effectRef idx="0">
            <a:scrgbClr r="0" g="0" b="0"/>
          </a:effectRef>
          <a:fontRef idx="minor"/>
        </p:style>
      </p:sp>
      <p:sp>
        <p:nvSpPr>
          <p:cNvPr id="248" name="CustomShape 5"/>
          <p:cNvSpPr/>
          <p:nvPr/>
        </p:nvSpPr>
        <p:spPr>
          <a:xfrm>
            <a:off x="193320" y="6546240"/>
            <a:ext cx="657000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900" b="0" strike="noStrike" spc="-1">
                <a:solidFill>
                  <a:srgbClr val="000000"/>
                </a:solidFill>
                <a:latin typeface="Calibri"/>
              </a:rPr>
              <a:t>The Standard for Risk Management - 2019, Project Management Institute</a:t>
            </a:r>
            <a:endParaRPr lang="en-GB" sz="900" b="0" strike="noStrike" spc="-1">
              <a:latin typeface="Arial"/>
            </a:endParaRPr>
          </a:p>
        </p:txBody>
      </p:sp>
      <p:pic>
        <p:nvPicPr>
          <p:cNvPr id="249" name="Picture 8"/>
          <p:cNvPicPr/>
          <p:nvPr/>
        </p:nvPicPr>
        <p:blipFill>
          <a:blip r:embed="rId3"/>
          <a:stretch/>
        </p:blipFill>
        <p:spPr>
          <a:xfrm>
            <a:off x="627120" y="2025360"/>
            <a:ext cx="316800" cy="294480"/>
          </a:xfrm>
          <a:prstGeom prst="rect">
            <a:avLst/>
          </a:prstGeom>
          <a:ln>
            <a:noFill/>
          </a:ln>
        </p:spPr>
      </p:pic>
      <p:pic>
        <p:nvPicPr>
          <p:cNvPr id="250" name="Picture 8"/>
          <p:cNvPicPr/>
          <p:nvPr/>
        </p:nvPicPr>
        <p:blipFill>
          <a:blip r:embed="rId3"/>
          <a:stretch/>
        </p:blipFill>
        <p:spPr>
          <a:xfrm>
            <a:off x="627120" y="2505600"/>
            <a:ext cx="316800" cy="294480"/>
          </a:xfrm>
          <a:prstGeom prst="rect">
            <a:avLst/>
          </a:prstGeom>
          <a:ln>
            <a:noFill/>
          </a:ln>
        </p:spPr>
      </p:pic>
      <p:pic>
        <p:nvPicPr>
          <p:cNvPr id="251" name="Picture 8"/>
          <p:cNvPicPr/>
          <p:nvPr/>
        </p:nvPicPr>
        <p:blipFill>
          <a:blip r:embed="rId3"/>
          <a:stretch/>
        </p:blipFill>
        <p:spPr>
          <a:xfrm>
            <a:off x="570960" y="2986200"/>
            <a:ext cx="316800" cy="294480"/>
          </a:xfrm>
          <a:prstGeom prst="rect">
            <a:avLst/>
          </a:prstGeom>
          <a:ln>
            <a:noFill/>
          </a:ln>
        </p:spPr>
      </p:pic>
      <p:pic>
        <p:nvPicPr>
          <p:cNvPr id="252" name="Picture 8"/>
          <p:cNvPicPr/>
          <p:nvPr/>
        </p:nvPicPr>
        <p:blipFill>
          <a:blip r:embed="rId3"/>
          <a:stretch/>
        </p:blipFill>
        <p:spPr>
          <a:xfrm>
            <a:off x="549360" y="4073400"/>
            <a:ext cx="316800" cy="294480"/>
          </a:xfrm>
          <a:prstGeom prst="rect">
            <a:avLst/>
          </a:prstGeom>
          <a:ln>
            <a:noFill/>
          </a:ln>
        </p:spPr>
      </p:pic>
      <p:pic>
        <p:nvPicPr>
          <p:cNvPr id="253" name="Picture 8"/>
          <p:cNvPicPr/>
          <p:nvPr/>
        </p:nvPicPr>
        <p:blipFill>
          <a:blip r:embed="rId3"/>
          <a:stretch/>
        </p:blipFill>
        <p:spPr>
          <a:xfrm>
            <a:off x="527760" y="5076360"/>
            <a:ext cx="316800" cy="294480"/>
          </a:xfrm>
          <a:prstGeom prst="rect">
            <a:avLst/>
          </a:prstGeom>
          <a:ln>
            <a:noFill/>
          </a:ln>
        </p:spPr>
      </p:pic>
      <p:pic>
        <p:nvPicPr>
          <p:cNvPr id="254" name="Picture 21"/>
          <p:cNvPicPr/>
          <p:nvPr/>
        </p:nvPicPr>
        <p:blipFill>
          <a:blip r:embed="rId4"/>
          <a:stretch/>
        </p:blipFill>
        <p:spPr>
          <a:xfrm>
            <a:off x="7404840" y="1331640"/>
            <a:ext cx="4259160" cy="4690440"/>
          </a:xfrm>
          <a:prstGeom prst="rect">
            <a:avLst/>
          </a:prstGeom>
          <a:ln>
            <a:noFill/>
          </a:ln>
        </p:spPr>
      </p:pic>
      <p:pic>
        <p:nvPicPr>
          <p:cNvPr id="255" name="Picture 8"/>
          <p:cNvPicPr/>
          <p:nvPr/>
        </p:nvPicPr>
        <p:blipFill>
          <a:blip r:embed="rId3"/>
          <a:stretch/>
        </p:blipFill>
        <p:spPr>
          <a:xfrm>
            <a:off x="599040" y="3514320"/>
            <a:ext cx="316800" cy="294480"/>
          </a:xfrm>
          <a:prstGeom prst="rect">
            <a:avLst/>
          </a:prstGeom>
          <a:ln>
            <a:noFill/>
          </a:ln>
        </p:spPr>
      </p:pic>
      <p:pic>
        <p:nvPicPr>
          <p:cNvPr id="256" name="Picture 8"/>
          <p:cNvPicPr/>
          <p:nvPr/>
        </p:nvPicPr>
        <p:blipFill>
          <a:blip r:embed="rId3"/>
          <a:stretch/>
        </p:blipFill>
        <p:spPr>
          <a:xfrm>
            <a:off x="542520" y="4585320"/>
            <a:ext cx="316800" cy="2944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7" name="Table 1"/>
          <p:cNvGraphicFramePr/>
          <p:nvPr/>
        </p:nvGraphicFramePr>
        <p:xfrm>
          <a:off x="272520" y="5372280"/>
          <a:ext cx="10450080" cy="1254240"/>
        </p:xfrm>
        <a:graphic>
          <a:graphicData uri="http://schemas.openxmlformats.org/drawingml/2006/table">
            <a:tbl>
              <a:tblPr/>
              <a:tblGrid>
                <a:gridCol w="1547640">
                  <a:extLst>
                    <a:ext uri="{9D8B030D-6E8A-4147-A177-3AD203B41FA5}">
                      <a16:colId xmlns:a16="http://schemas.microsoft.com/office/drawing/2014/main" val="20000"/>
                    </a:ext>
                  </a:extLst>
                </a:gridCol>
                <a:gridCol w="2666880">
                  <a:extLst>
                    <a:ext uri="{9D8B030D-6E8A-4147-A177-3AD203B41FA5}">
                      <a16:colId xmlns:a16="http://schemas.microsoft.com/office/drawing/2014/main" val="20001"/>
                    </a:ext>
                  </a:extLst>
                </a:gridCol>
                <a:gridCol w="2260440">
                  <a:extLst>
                    <a:ext uri="{9D8B030D-6E8A-4147-A177-3AD203B41FA5}">
                      <a16:colId xmlns:a16="http://schemas.microsoft.com/office/drawing/2014/main" val="20002"/>
                    </a:ext>
                  </a:extLst>
                </a:gridCol>
                <a:gridCol w="3975120">
                  <a:extLst>
                    <a:ext uri="{9D8B030D-6E8A-4147-A177-3AD203B41FA5}">
                      <a16:colId xmlns:a16="http://schemas.microsoft.com/office/drawing/2014/main" val="20003"/>
                    </a:ext>
                  </a:extLst>
                </a:gridCol>
              </a:tblGrid>
              <a:tr h="392040">
                <a:tc>
                  <a:txBody>
                    <a:bodyPr/>
                    <a:lstStyle/>
                    <a:p>
                      <a:pPr algn="ctr">
                        <a:lnSpc>
                          <a:spcPct val="100000"/>
                        </a:lnSpc>
                      </a:pPr>
                      <a:r>
                        <a:rPr lang="en-GB" sz="2400" b="1" strike="noStrike" spc="-1">
                          <a:solidFill>
                            <a:srgbClr val="000000"/>
                          </a:solidFill>
                          <a:latin typeface="Calibri"/>
                        </a:rPr>
                        <a:t>1</a:t>
                      </a:r>
                      <a:endParaRPr lang="en-GB" sz="2400" b="0" strike="noStrike" spc="-1">
                        <a:latin typeface="Arial"/>
                      </a:endParaRPr>
                    </a:p>
                  </a:txBody>
                  <a:tcPr>
                    <a:lnL w="12240">
                      <a:noFill/>
                    </a:lnL>
                    <a:lnR w="12240">
                      <a:noFill/>
                    </a:lnR>
                    <a:lnT w="12240">
                      <a:noFill/>
                    </a:lnT>
                    <a:lnB w="12240">
                      <a:noFill/>
                    </a:lnB>
                    <a:noFill/>
                  </a:tcPr>
                </a:tc>
                <a:tc>
                  <a:txBody>
                    <a:bodyPr/>
                    <a:lstStyle/>
                    <a:p>
                      <a:pPr algn="ctr">
                        <a:lnSpc>
                          <a:spcPct val="100000"/>
                        </a:lnSpc>
                      </a:pPr>
                      <a:r>
                        <a:rPr lang="en-GB" sz="2400" b="1" strike="noStrike" spc="-1">
                          <a:solidFill>
                            <a:srgbClr val="000000"/>
                          </a:solidFill>
                          <a:latin typeface="Calibri"/>
                        </a:rPr>
                        <a:t>2</a:t>
                      </a:r>
                      <a:endParaRPr lang="en-GB" sz="2400" b="0" strike="noStrike" spc="-1">
                        <a:latin typeface="Arial"/>
                      </a:endParaRPr>
                    </a:p>
                  </a:txBody>
                  <a:tcPr>
                    <a:lnL w="12240">
                      <a:noFill/>
                    </a:lnL>
                    <a:lnR w="12240">
                      <a:noFill/>
                    </a:lnR>
                    <a:lnT w="12240">
                      <a:noFill/>
                    </a:lnT>
                    <a:lnB w="12240">
                      <a:noFill/>
                    </a:lnB>
                    <a:noFill/>
                  </a:tcPr>
                </a:tc>
                <a:tc>
                  <a:txBody>
                    <a:bodyPr/>
                    <a:lstStyle/>
                    <a:p>
                      <a:pPr algn="ctr">
                        <a:lnSpc>
                          <a:spcPct val="100000"/>
                        </a:lnSpc>
                      </a:pPr>
                      <a:r>
                        <a:rPr lang="en-GB" sz="2400" b="1" strike="noStrike" spc="-1">
                          <a:solidFill>
                            <a:srgbClr val="000000"/>
                          </a:solidFill>
                          <a:latin typeface="Calibri"/>
                        </a:rPr>
                        <a:t>3</a:t>
                      </a:r>
                      <a:endParaRPr lang="en-GB" sz="2400" b="0" strike="noStrike" spc="-1">
                        <a:latin typeface="Arial"/>
                      </a:endParaRPr>
                    </a:p>
                  </a:txBody>
                  <a:tcPr>
                    <a:lnL w="12240">
                      <a:noFill/>
                    </a:lnL>
                    <a:lnR w="12240">
                      <a:noFill/>
                    </a:lnR>
                    <a:lnT w="12240">
                      <a:noFill/>
                    </a:lnT>
                    <a:lnB w="12240">
                      <a:noFill/>
                    </a:lnB>
                    <a:noFill/>
                  </a:tcPr>
                </a:tc>
                <a:tc>
                  <a:txBody>
                    <a:bodyPr/>
                    <a:lstStyle/>
                    <a:p>
                      <a:pPr algn="ctr">
                        <a:lnSpc>
                          <a:spcPct val="100000"/>
                        </a:lnSpc>
                      </a:pPr>
                      <a:r>
                        <a:rPr lang="en-GB" sz="2400" b="1" strike="noStrike" spc="-1">
                          <a:solidFill>
                            <a:srgbClr val="000000"/>
                          </a:solidFill>
                          <a:latin typeface="Calibri"/>
                        </a:rPr>
                        <a:t>4</a:t>
                      </a:r>
                      <a:endParaRPr lang="en-GB" sz="24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0"/>
                  </a:ext>
                </a:extLst>
              </a:tr>
              <a:tr h="862560">
                <a:tc>
                  <a:txBody>
                    <a:bodyPr/>
                    <a:lstStyle/>
                    <a:p>
                      <a:endParaRPr lang="fr-FR"/>
                    </a:p>
                  </a:txBody>
                  <a:tcPr>
                    <a:lnL w="12240">
                      <a:noFill/>
                    </a:lnL>
                    <a:lnR w="12240">
                      <a:noFill/>
                    </a:lnR>
                    <a:lnT w="12240">
                      <a:noFill/>
                    </a:lnT>
                    <a:lnB w="12240">
                      <a:noFill/>
                    </a:lnB>
                    <a:noFill/>
                  </a:tcPr>
                </a:tc>
                <a:tc>
                  <a:txBody>
                    <a:bodyPr/>
                    <a:lstStyle/>
                    <a:p>
                      <a:pPr algn="ctr">
                        <a:lnSpc>
                          <a:spcPct val="100000"/>
                        </a:lnSpc>
                      </a:pPr>
                      <a:r>
                        <a:rPr lang="en-GB" sz="1200" b="0" strike="noStrike" spc="-1">
                          <a:solidFill>
                            <a:srgbClr val="000000"/>
                          </a:solidFill>
                          <a:latin typeface="Calibri"/>
                        </a:rPr>
                        <a:t>If one of the following applies:</a:t>
                      </a:r>
                      <a:endParaRPr lang="en-GB" sz="1200" b="0" strike="noStrike" spc="-1">
                        <a:latin typeface="Arial"/>
                      </a:endParaRPr>
                    </a:p>
                    <a:p>
                      <a:pPr algn="ctr">
                        <a:lnSpc>
                          <a:spcPct val="100000"/>
                        </a:lnSpc>
                      </a:pPr>
                      <a:r>
                        <a:rPr lang="en-GB" sz="1200" b="1" strike="noStrike" spc="-1">
                          <a:solidFill>
                            <a:srgbClr val="000000"/>
                          </a:solidFill>
                          <a:latin typeface="Calibri"/>
                        </a:rPr>
                        <a:t>Brief: </a:t>
                      </a:r>
                      <a:r>
                        <a:rPr lang="en-GB" sz="1200" b="0" strike="noStrike" spc="-1">
                          <a:solidFill>
                            <a:srgbClr val="000000"/>
                          </a:solidFill>
                          <a:latin typeface="Calibri"/>
                        </a:rPr>
                        <a:t>impact visible for R&amp;D</a:t>
                      </a:r>
                      <a:endParaRPr lang="en-GB" sz="1200" b="0" strike="noStrike" spc="-1">
                        <a:latin typeface="Arial"/>
                      </a:endParaRPr>
                    </a:p>
                    <a:p>
                      <a:pPr algn="ctr">
                        <a:lnSpc>
                          <a:spcPct val="100000"/>
                        </a:lnSpc>
                      </a:pPr>
                      <a:r>
                        <a:rPr lang="en-GB" sz="1200" b="1" strike="noStrike" spc="-1">
                          <a:solidFill>
                            <a:srgbClr val="000000"/>
                          </a:solidFill>
                          <a:latin typeface="Calibri"/>
                        </a:rPr>
                        <a:t>Margin: </a:t>
                      </a:r>
                      <a:r>
                        <a:rPr lang="en-GB" sz="1200" b="0" strike="noStrike" spc="-1">
                          <a:solidFill>
                            <a:srgbClr val="000000"/>
                          </a:solidFill>
                          <a:latin typeface="Calibri"/>
                        </a:rPr>
                        <a:t>impact on MC &gt;1% Y1</a:t>
                      </a:r>
                      <a:endParaRPr lang="en-GB" sz="1200" b="0" strike="noStrike" spc="-1">
                        <a:latin typeface="Arial"/>
                      </a:endParaRPr>
                    </a:p>
                    <a:p>
                      <a:pPr algn="ctr">
                        <a:lnSpc>
                          <a:spcPct val="100000"/>
                        </a:lnSpc>
                      </a:pPr>
                      <a:r>
                        <a:rPr lang="en-GB" sz="1200" b="1" strike="noStrike" spc="-1">
                          <a:solidFill>
                            <a:srgbClr val="000000"/>
                          </a:solidFill>
                          <a:latin typeface="Calibri"/>
                        </a:rPr>
                        <a:t>Cost: </a:t>
                      </a:r>
                      <a:r>
                        <a:rPr lang="en-GB" sz="1200" b="0" strike="noStrike" spc="-1">
                          <a:solidFill>
                            <a:srgbClr val="000000"/>
                          </a:solidFill>
                          <a:latin typeface="Calibri"/>
                        </a:rPr>
                        <a:t>project opex &gt;10k/year</a:t>
                      </a:r>
                      <a:endParaRPr lang="en-GB" sz="1200" b="0" strike="noStrike" spc="-1">
                        <a:latin typeface="Arial"/>
                      </a:endParaRPr>
                    </a:p>
                    <a:p>
                      <a:pPr algn="ctr">
                        <a:lnSpc>
                          <a:spcPct val="100000"/>
                        </a:lnSpc>
                      </a:pPr>
                      <a:r>
                        <a:rPr lang="en-GB" sz="1200" b="1" strike="noStrike" spc="-1">
                          <a:solidFill>
                            <a:srgbClr val="000000"/>
                          </a:solidFill>
                          <a:latin typeface="Calibri"/>
                        </a:rPr>
                        <a:t>Time: </a:t>
                      </a:r>
                      <a:r>
                        <a:rPr lang="en-GB" sz="1200" b="0" strike="noStrike" spc="-1">
                          <a:solidFill>
                            <a:srgbClr val="000000"/>
                          </a:solidFill>
                          <a:latin typeface="Calibri"/>
                        </a:rPr>
                        <a:t>launch delay &gt;1 week</a:t>
                      </a:r>
                      <a:endParaRPr lang="en-GB" sz="1200" b="0" strike="noStrike" spc="-1">
                        <a:latin typeface="Arial"/>
                      </a:endParaRPr>
                    </a:p>
                  </a:txBody>
                  <a:tcPr>
                    <a:lnL w="12240">
                      <a:noFill/>
                    </a:lnL>
                    <a:lnR w="12240">
                      <a:noFill/>
                    </a:lnR>
                    <a:lnT w="12240">
                      <a:noFill/>
                    </a:lnT>
                    <a:lnB w="12240">
                      <a:noFill/>
                    </a:lnB>
                    <a:noFill/>
                  </a:tcPr>
                </a:tc>
                <a:tc>
                  <a:txBody>
                    <a:bodyPr/>
                    <a:lstStyle/>
                    <a:p>
                      <a:pPr algn="ctr">
                        <a:lnSpc>
                          <a:spcPct val="100000"/>
                        </a:lnSpc>
                      </a:pPr>
                      <a:r>
                        <a:rPr lang="en-GB" sz="1200" b="0" strike="noStrike" spc="-1">
                          <a:solidFill>
                            <a:srgbClr val="000000"/>
                          </a:solidFill>
                          <a:latin typeface="Calibri"/>
                        </a:rPr>
                        <a:t>If one of the following applies:</a:t>
                      </a:r>
                      <a:endParaRPr lang="en-GB" sz="1200" b="0" strike="noStrike" spc="-1">
                        <a:latin typeface="Arial"/>
                      </a:endParaRPr>
                    </a:p>
                    <a:p>
                      <a:pPr algn="ctr">
                        <a:lnSpc>
                          <a:spcPct val="100000"/>
                        </a:lnSpc>
                      </a:pPr>
                      <a:r>
                        <a:rPr lang="en-GB" sz="1200" b="1" strike="noStrike" spc="-1">
                          <a:solidFill>
                            <a:srgbClr val="000000"/>
                          </a:solidFill>
                          <a:latin typeface="Calibri"/>
                        </a:rPr>
                        <a:t>Brief: </a:t>
                      </a:r>
                      <a:r>
                        <a:rPr lang="en-GB" sz="1200" b="0" strike="noStrike" spc="-1">
                          <a:solidFill>
                            <a:srgbClr val="000000"/>
                          </a:solidFill>
                          <a:latin typeface="Calibri"/>
                        </a:rPr>
                        <a:t>impact visible for Nestlé</a:t>
                      </a:r>
                      <a:endParaRPr lang="en-GB" sz="1200" b="0" strike="noStrike" spc="-1">
                        <a:latin typeface="Arial"/>
                      </a:endParaRPr>
                    </a:p>
                    <a:p>
                      <a:pPr algn="ctr">
                        <a:lnSpc>
                          <a:spcPct val="100000"/>
                        </a:lnSpc>
                      </a:pPr>
                      <a:r>
                        <a:rPr lang="en-GB" sz="1200" b="1" strike="noStrike" spc="-1">
                          <a:solidFill>
                            <a:srgbClr val="000000"/>
                          </a:solidFill>
                          <a:latin typeface="Calibri"/>
                        </a:rPr>
                        <a:t>Margin: </a:t>
                      </a:r>
                      <a:r>
                        <a:rPr lang="en-GB" sz="1200" b="0" strike="noStrike" spc="-1">
                          <a:solidFill>
                            <a:srgbClr val="000000"/>
                          </a:solidFill>
                          <a:latin typeface="Calibri"/>
                        </a:rPr>
                        <a:t>impact on MC &gt;2% Y1</a:t>
                      </a:r>
                      <a:endParaRPr lang="en-GB" sz="1200" b="0" strike="noStrike" spc="-1">
                        <a:latin typeface="Arial"/>
                      </a:endParaRPr>
                    </a:p>
                    <a:p>
                      <a:pPr algn="ctr">
                        <a:lnSpc>
                          <a:spcPct val="100000"/>
                        </a:lnSpc>
                      </a:pPr>
                      <a:r>
                        <a:rPr lang="en-GB" sz="1200" b="1" strike="noStrike" spc="-1">
                          <a:solidFill>
                            <a:srgbClr val="000000"/>
                          </a:solidFill>
                          <a:latin typeface="Calibri"/>
                        </a:rPr>
                        <a:t>Cost: </a:t>
                      </a:r>
                      <a:r>
                        <a:rPr lang="en-GB" sz="1200" b="0" strike="noStrike" spc="-1">
                          <a:solidFill>
                            <a:srgbClr val="000000"/>
                          </a:solidFill>
                          <a:latin typeface="Calibri"/>
                        </a:rPr>
                        <a:t>project opex &gt;100kEur/year</a:t>
                      </a:r>
                      <a:endParaRPr lang="en-GB" sz="1200" b="0" strike="noStrike" spc="-1">
                        <a:latin typeface="Arial"/>
                      </a:endParaRPr>
                    </a:p>
                    <a:p>
                      <a:pPr algn="ctr">
                        <a:lnSpc>
                          <a:spcPct val="100000"/>
                        </a:lnSpc>
                      </a:pPr>
                      <a:r>
                        <a:rPr lang="en-GB" sz="1200" b="1" strike="noStrike" spc="-1">
                          <a:solidFill>
                            <a:srgbClr val="000000"/>
                          </a:solidFill>
                          <a:latin typeface="Calibri"/>
                        </a:rPr>
                        <a:t>Time: </a:t>
                      </a:r>
                      <a:r>
                        <a:rPr lang="en-GB" sz="1200" b="0" strike="noStrike" spc="-1">
                          <a:solidFill>
                            <a:srgbClr val="000000"/>
                          </a:solidFill>
                          <a:latin typeface="Calibri"/>
                        </a:rPr>
                        <a:t>launch delay &gt; 1 month</a:t>
                      </a:r>
                      <a:endParaRPr lang="en-GB" sz="1200" b="0" strike="noStrike" spc="-1">
                        <a:latin typeface="Arial"/>
                      </a:endParaRPr>
                    </a:p>
                  </a:txBody>
                  <a:tcPr>
                    <a:lnL w="12240">
                      <a:noFill/>
                    </a:lnL>
                    <a:lnR w="12240">
                      <a:noFill/>
                    </a:lnR>
                    <a:lnT w="12240">
                      <a:noFill/>
                    </a:lnT>
                    <a:lnB w="12240">
                      <a:noFill/>
                    </a:lnB>
                    <a:noFill/>
                  </a:tcPr>
                </a:tc>
                <a:tc>
                  <a:txBody>
                    <a:bodyPr/>
                    <a:lstStyle/>
                    <a:p>
                      <a:pPr algn="ctr">
                        <a:lnSpc>
                          <a:spcPct val="100000"/>
                        </a:lnSpc>
                      </a:pPr>
                      <a:r>
                        <a:rPr lang="en-GB" sz="1200" b="0" strike="noStrike" spc="-1">
                          <a:solidFill>
                            <a:srgbClr val="000000"/>
                          </a:solidFill>
                          <a:latin typeface="Calibri"/>
                        </a:rPr>
                        <a:t>If one of the following applies:</a:t>
                      </a:r>
                      <a:endParaRPr lang="en-GB" sz="1200" b="0" strike="noStrike" spc="-1">
                        <a:latin typeface="Arial"/>
                      </a:endParaRPr>
                    </a:p>
                    <a:p>
                      <a:pPr algn="ctr">
                        <a:lnSpc>
                          <a:spcPct val="100000"/>
                        </a:lnSpc>
                      </a:pPr>
                      <a:r>
                        <a:rPr lang="en-GB" sz="1200" b="1" strike="noStrike" spc="-1">
                          <a:solidFill>
                            <a:srgbClr val="000000"/>
                          </a:solidFill>
                          <a:latin typeface="Calibri"/>
                        </a:rPr>
                        <a:t>Brief: </a:t>
                      </a:r>
                      <a:r>
                        <a:rPr lang="en-GB" sz="1200" b="0" strike="noStrike" spc="-1">
                          <a:solidFill>
                            <a:srgbClr val="000000"/>
                          </a:solidFill>
                          <a:latin typeface="Calibri"/>
                        </a:rPr>
                        <a:t>impact visible for consumer</a:t>
                      </a:r>
                      <a:endParaRPr lang="en-GB" sz="1200" b="0" strike="noStrike" spc="-1">
                        <a:latin typeface="Arial"/>
                      </a:endParaRPr>
                    </a:p>
                    <a:p>
                      <a:pPr algn="ctr">
                        <a:lnSpc>
                          <a:spcPct val="100000"/>
                        </a:lnSpc>
                      </a:pPr>
                      <a:r>
                        <a:rPr lang="en-GB" sz="1200" b="1" strike="noStrike" spc="-1">
                          <a:solidFill>
                            <a:srgbClr val="000000"/>
                          </a:solidFill>
                          <a:latin typeface="Calibri"/>
                        </a:rPr>
                        <a:t>Margin: </a:t>
                      </a:r>
                      <a:r>
                        <a:rPr lang="en-GB" sz="1200" b="0" strike="noStrike" spc="-1">
                          <a:solidFill>
                            <a:srgbClr val="000000"/>
                          </a:solidFill>
                          <a:latin typeface="Calibri"/>
                        </a:rPr>
                        <a:t>impact on MC &gt;5% Y1</a:t>
                      </a:r>
                      <a:endParaRPr lang="en-GB" sz="1200" b="0" strike="noStrike" spc="-1">
                        <a:latin typeface="Arial"/>
                      </a:endParaRPr>
                    </a:p>
                    <a:p>
                      <a:pPr algn="ctr">
                        <a:lnSpc>
                          <a:spcPct val="100000"/>
                        </a:lnSpc>
                      </a:pPr>
                      <a:r>
                        <a:rPr lang="en-GB" sz="1200" b="1" strike="noStrike" spc="-1">
                          <a:solidFill>
                            <a:srgbClr val="000000"/>
                          </a:solidFill>
                          <a:latin typeface="Calibri"/>
                        </a:rPr>
                        <a:t>Cost: </a:t>
                      </a:r>
                      <a:r>
                        <a:rPr lang="en-GB" sz="1200" b="0" strike="noStrike" spc="-1">
                          <a:solidFill>
                            <a:srgbClr val="000000"/>
                          </a:solidFill>
                          <a:latin typeface="Calibri"/>
                        </a:rPr>
                        <a:t>project opex &gt;1mioEur/year</a:t>
                      </a:r>
                      <a:endParaRPr lang="en-GB" sz="1200" b="0" strike="noStrike" spc="-1">
                        <a:latin typeface="Arial"/>
                      </a:endParaRPr>
                    </a:p>
                    <a:p>
                      <a:pPr algn="ctr">
                        <a:lnSpc>
                          <a:spcPct val="100000"/>
                        </a:lnSpc>
                      </a:pPr>
                      <a:r>
                        <a:rPr lang="en-GB" sz="1200" b="1" strike="noStrike" spc="-1">
                          <a:solidFill>
                            <a:srgbClr val="000000"/>
                          </a:solidFill>
                          <a:latin typeface="Calibri"/>
                        </a:rPr>
                        <a:t>Time: </a:t>
                      </a:r>
                      <a:r>
                        <a:rPr lang="en-GB" sz="1200" b="0" strike="noStrike" spc="-1">
                          <a:solidFill>
                            <a:srgbClr val="000000"/>
                          </a:solidFill>
                          <a:latin typeface="Calibri"/>
                        </a:rPr>
                        <a:t>launch delay &gt; 3 months</a:t>
                      </a:r>
                      <a:endParaRPr lang="en-GB" sz="12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1"/>
                  </a:ext>
                </a:extLst>
              </a:tr>
            </a:tbl>
          </a:graphicData>
        </a:graphic>
      </p:graphicFrame>
      <p:sp>
        <p:nvSpPr>
          <p:cNvPr id="258" name="Line 2"/>
          <p:cNvSpPr/>
          <p:nvPr/>
        </p:nvSpPr>
        <p:spPr>
          <a:xfrm>
            <a:off x="153720" y="489240"/>
            <a:ext cx="11751840" cy="360"/>
          </a:xfrm>
          <a:prstGeom prst="line">
            <a:avLst/>
          </a:prstGeom>
          <a:ln>
            <a:solidFill>
              <a:schemeClr val="tx1"/>
            </a:solidFill>
          </a:ln>
        </p:spPr>
        <p:style>
          <a:lnRef idx="1">
            <a:schemeClr val="accent1"/>
          </a:lnRef>
          <a:fillRef idx="0">
            <a:schemeClr val="accent1"/>
          </a:fillRef>
          <a:effectRef idx="0">
            <a:schemeClr val="accent1"/>
          </a:effectRef>
          <a:fontRef idx="minor"/>
        </p:style>
      </p:sp>
      <p:sp>
        <p:nvSpPr>
          <p:cNvPr id="259" name="CustomShape 3"/>
          <p:cNvSpPr/>
          <p:nvPr/>
        </p:nvSpPr>
        <p:spPr>
          <a:xfrm>
            <a:off x="154080" y="82440"/>
            <a:ext cx="4982760" cy="64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90000"/>
              </a:lnSpc>
            </a:pPr>
            <a:r>
              <a:rPr lang="en-GB" sz="2800" b="0" strike="noStrike" spc="-1">
                <a:solidFill>
                  <a:srgbClr val="000000"/>
                </a:solidFill>
                <a:latin typeface="Calibri Light"/>
              </a:rPr>
              <a:t>Tri Risk</a:t>
            </a:r>
            <a:endParaRPr lang="en-GB" sz="2800" b="0" strike="noStrike" spc="-1">
              <a:latin typeface="Arial"/>
            </a:endParaRPr>
          </a:p>
        </p:txBody>
      </p:sp>
      <p:graphicFrame>
        <p:nvGraphicFramePr>
          <p:cNvPr id="260" name="Table 4"/>
          <p:cNvGraphicFramePr/>
          <p:nvPr/>
        </p:nvGraphicFramePr>
        <p:xfrm>
          <a:off x="230400" y="810360"/>
          <a:ext cx="10653480" cy="3849480"/>
        </p:xfrm>
        <a:graphic>
          <a:graphicData uri="http://schemas.openxmlformats.org/drawingml/2006/table">
            <a:tbl>
              <a:tblPr/>
              <a:tblGrid>
                <a:gridCol w="1548360">
                  <a:extLst>
                    <a:ext uri="{9D8B030D-6E8A-4147-A177-3AD203B41FA5}">
                      <a16:colId xmlns:a16="http://schemas.microsoft.com/office/drawing/2014/main" val="20000"/>
                    </a:ext>
                  </a:extLst>
                </a:gridCol>
                <a:gridCol w="2335680">
                  <a:extLst>
                    <a:ext uri="{9D8B030D-6E8A-4147-A177-3AD203B41FA5}">
                      <a16:colId xmlns:a16="http://schemas.microsoft.com/office/drawing/2014/main" val="20001"/>
                    </a:ext>
                  </a:extLst>
                </a:gridCol>
                <a:gridCol w="2206800">
                  <a:extLst>
                    <a:ext uri="{9D8B030D-6E8A-4147-A177-3AD203B41FA5}">
                      <a16:colId xmlns:a16="http://schemas.microsoft.com/office/drawing/2014/main" val="20002"/>
                    </a:ext>
                  </a:extLst>
                </a:gridCol>
                <a:gridCol w="4562640">
                  <a:extLst>
                    <a:ext uri="{9D8B030D-6E8A-4147-A177-3AD203B41FA5}">
                      <a16:colId xmlns:a16="http://schemas.microsoft.com/office/drawing/2014/main" val="20003"/>
                    </a:ext>
                  </a:extLst>
                </a:gridCol>
              </a:tblGrid>
              <a:tr h="8067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extLst>
                  <a:ext uri="{0D108BD9-81ED-4DB2-BD59-A6C34878D82A}">
                    <a16:rowId xmlns:a16="http://schemas.microsoft.com/office/drawing/2014/main" val="10000"/>
                  </a:ext>
                </a:extLst>
              </a:tr>
              <a:tr h="10461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extLst>
                  <a:ext uri="{0D108BD9-81ED-4DB2-BD59-A6C34878D82A}">
                    <a16:rowId xmlns:a16="http://schemas.microsoft.com/office/drawing/2014/main" val="10001"/>
                  </a:ext>
                </a:extLst>
              </a:tr>
              <a:tr h="83808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extLst>
                  <a:ext uri="{0D108BD9-81ED-4DB2-BD59-A6C34878D82A}">
                    <a16:rowId xmlns:a16="http://schemas.microsoft.com/office/drawing/2014/main" val="10002"/>
                  </a:ext>
                </a:extLst>
              </a:tr>
              <a:tr h="115848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extLst>
                  <a:ext uri="{0D108BD9-81ED-4DB2-BD59-A6C34878D82A}">
                    <a16:rowId xmlns:a16="http://schemas.microsoft.com/office/drawing/2014/main" val="10003"/>
                  </a:ext>
                </a:extLst>
              </a:tr>
            </a:tbl>
          </a:graphicData>
        </a:graphic>
      </p:graphicFrame>
      <p:graphicFrame>
        <p:nvGraphicFramePr>
          <p:cNvPr id="261" name="Table 5"/>
          <p:cNvGraphicFramePr/>
          <p:nvPr/>
        </p:nvGraphicFramePr>
        <p:xfrm>
          <a:off x="10909080" y="810360"/>
          <a:ext cx="1218960" cy="4444560"/>
        </p:xfrm>
        <a:graphic>
          <a:graphicData uri="http://schemas.openxmlformats.org/drawingml/2006/table">
            <a:tbl>
              <a:tblPr/>
              <a:tblGrid>
                <a:gridCol w="304920">
                  <a:extLst>
                    <a:ext uri="{9D8B030D-6E8A-4147-A177-3AD203B41FA5}">
                      <a16:colId xmlns:a16="http://schemas.microsoft.com/office/drawing/2014/main" val="20000"/>
                    </a:ext>
                  </a:extLst>
                </a:gridCol>
                <a:gridCol w="914040">
                  <a:extLst>
                    <a:ext uri="{9D8B030D-6E8A-4147-A177-3AD203B41FA5}">
                      <a16:colId xmlns:a16="http://schemas.microsoft.com/office/drawing/2014/main" val="20001"/>
                    </a:ext>
                  </a:extLst>
                </a:gridCol>
              </a:tblGrid>
              <a:tr h="972360">
                <a:tc>
                  <a:txBody>
                    <a:bodyPr/>
                    <a:lstStyle/>
                    <a:p>
                      <a:pPr algn="ctr">
                        <a:lnSpc>
                          <a:spcPct val="100000"/>
                        </a:lnSpc>
                      </a:pPr>
                      <a:r>
                        <a:rPr lang="en-GB" sz="2400" b="1" strike="noStrike" spc="-1">
                          <a:solidFill>
                            <a:srgbClr val="000000"/>
                          </a:solidFill>
                          <a:latin typeface="Calibri"/>
                        </a:rPr>
                        <a:t>A</a:t>
                      </a:r>
                      <a:endParaRPr lang="en-GB" sz="2400" b="0" strike="noStrike" spc="-1">
                        <a:latin typeface="Arial"/>
                      </a:endParaRPr>
                    </a:p>
                  </a:txBody>
                  <a:tcPr>
                    <a:lnL w="12240">
                      <a:noFill/>
                    </a:lnL>
                    <a:lnR w="12240">
                      <a:noFill/>
                    </a:lnR>
                    <a:lnT w="12240">
                      <a:noFill/>
                    </a:lnT>
                    <a:lnB w="12240">
                      <a:noFill/>
                    </a:lnB>
                    <a:noFill/>
                  </a:tcPr>
                </a:tc>
                <a:tc>
                  <a:txBody>
                    <a:bodyPr/>
                    <a:lstStyle/>
                    <a:p>
                      <a:pPr>
                        <a:lnSpc>
                          <a:spcPct val="100000"/>
                        </a:lnSpc>
                      </a:pPr>
                      <a:r>
                        <a:rPr lang="en-GB" sz="1200" b="1" strike="noStrike" spc="-1">
                          <a:solidFill>
                            <a:srgbClr val="000000"/>
                          </a:solidFill>
                          <a:latin typeface="Calibri"/>
                        </a:rPr>
                        <a:t>80 - 100%</a:t>
                      </a:r>
                      <a:endParaRPr lang="en-GB" sz="1200" b="0" strike="noStrike" spc="-1">
                        <a:latin typeface="Arial"/>
                      </a:endParaRPr>
                    </a:p>
                    <a:p>
                      <a:pPr>
                        <a:lnSpc>
                          <a:spcPct val="100000"/>
                        </a:lnSpc>
                      </a:pPr>
                      <a:r>
                        <a:rPr lang="en-GB" sz="1200" b="0" strike="noStrike" spc="-1">
                          <a:solidFill>
                            <a:srgbClr val="000000"/>
                          </a:solidFill>
                          <a:latin typeface="Calibri"/>
                        </a:rPr>
                        <a:t>Highly probable</a:t>
                      </a:r>
                      <a:endParaRPr lang="en-GB" sz="12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0"/>
                  </a:ext>
                </a:extLst>
              </a:tr>
              <a:tr h="1180080">
                <a:tc>
                  <a:txBody>
                    <a:bodyPr/>
                    <a:lstStyle/>
                    <a:p>
                      <a:pPr algn="ctr">
                        <a:lnSpc>
                          <a:spcPct val="100000"/>
                        </a:lnSpc>
                      </a:pPr>
                      <a:r>
                        <a:rPr lang="en-GB" sz="2400" b="1" strike="noStrike" spc="-1">
                          <a:solidFill>
                            <a:srgbClr val="000000"/>
                          </a:solidFill>
                          <a:latin typeface="Calibri"/>
                        </a:rPr>
                        <a:t>B</a:t>
                      </a:r>
                      <a:endParaRPr lang="en-GB" sz="2400" b="0" strike="noStrike" spc="-1">
                        <a:latin typeface="Arial"/>
                      </a:endParaRPr>
                    </a:p>
                  </a:txBody>
                  <a:tcPr>
                    <a:lnL w="12240">
                      <a:noFill/>
                    </a:lnL>
                    <a:lnR w="12240">
                      <a:noFill/>
                    </a:lnR>
                    <a:lnT w="12240">
                      <a:noFill/>
                    </a:lnT>
                    <a:lnB w="12240">
                      <a:noFill/>
                    </a:lnB>
                    <a:noFill/>
                  </a:tcPr>
                </a:tc>
                <a:tc>
                  <a:txBody>
                    <a:bodyPr/>
                    <a:lstStyle/>
                    <a:p>
                      <a:pPr>
                        <a:lnSpc>
                          <a:spcPct val="100000"/>
                        </a:lnSpc>
                      </a:pPr>
                      <a:r>
                        <a:rPr lang="en-GB" sz="1200" b="1" strike="noStrike" spc="-1">
                          <a:solidFill>
                            <a:srgbClr val="000000"/>
                          </a:solidFill>
                          <a:latin typeface="Calibri"/>
                        </a:rPr>
                        <a:t>50 - 80%</a:t>
                      </a:r>
                      <a:endParaRPr lang="en-GB" sz="1200" b="0" strike="noStrike" spc="-1">
                        <a:latin typeface="Arial"/>
                      </a:endParaRPr>
                    </a:p>
                    <a:p>
                      <a:pPr>
                        <a:lnSpc>
                          <a:spcPct val="100000"/>
                        </a:lnSpc>
                      </a:pPr>
                      <a:r>
                        <a:rPr lang="en-GB" sz="1200" b="0" strike="noStrike" spc="-1">
                          <a:solidFill>
                            <a:srgbClr val="000000"/>
                          </a:solidFill>
                          <a:latin typeface="Calibri"/>
                        </a:rPr>
                        <a:t>Probable</a:t>
                      </a:r>
                      <a:endParaRPr lang="en-GB" sz="12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1"/>
                  </a:ext>
                </a:extLst>
              </a:tr>
              <a:tr h="902160">
                <a:tc>
                  <a:txBody>
                    <a:bodyPr/>
                    <a:lstStyle/>
                    <a:p>
                      <a:pPr algn="ctr">
                        <a:lnSpc>
                          <a:spcPct val="100000"/>
                        </a:lnSpc>
                      </a:pPr>
                      <a:r>
                        <a:rPr lang="en-GB" sz="2400" b="1" strike="noStrike" spc="-1">
                          <a:solidFill>
                            <a:srgbClr val="000000"/>
                          </a:solidFill>
                          <a:latin typeface="Calibri"/>
                        </a:rPr>
                        <a:t>C</a:t>
                      </a:r>
                      <a:endParaRPr lang="en-GB" sz="2400" b="0" strike="noStrike" spc="-1">
                        <a:latin typeface="Arial"/>
                      </a:endParaRPr>
                    </a:p>
                  </a:txBody>
                  <a:tcPr>
                    <a:lnL w="12240">
                      <a:noFill/>
                    </a:lnL>
                    <a:lnR w="12240">
                      <a:noFill/>
                    </a:lnR>
                    <a:lnT w="12240">
                      <a:noFill/>
                    </a:lnT>
                    <a:lnB w="12240">
                      <a:noFill/>
                    </a:lnB>
                    <a:noFill/>
                  </a:tcPr>
                </a:tc>
                <a:tc>
                  <a:txBody>
                    <a:bodyPr/>
                    <a:lstStyle/>
                    <a:p>
                      <a:pPr>
                        <a:lnSpc>
                          <a:spcPct val="100000"/>
                        </a:lnSpc>
                      </a:pPr>
                      <a:r>
                        <a:rPr lang="en-GB" sz="1200" b="1" strike="noStrike" spc="-1">
                          <a:solidFill>
                            <a:srgbClr val="000000"/>
                          </a:solidFill>
                          <a:latin typeface="Calibri"/>
                        </a:rPr>
                        <a:t>20 - 50 %</a:t>
                      </a:r>
                      <a:endParaRPr lang="en-GB" sz="1200" b="0" strike="noStrike" spc="-1">
                        <a:latin typeface="Arial"/>
                      </a:endParaRPr>
                    </a:p>
                    <a:p>
                      <a:pPr>
                        <a:lnSpc>
                          <a:spcPct val="100000"/>
                        </a:lnSpc>
                      </a:pPr>
                      <a:r>
                        <a:rPr lang="en-GB" sz="1200" b="0" strike="noStrike" spc="-1">
                          <a:solidFill>
                            <a:srgbClr val="000000"/>
                          </a:solidFill>
                          <a:latin typeface="Calibri"/>
                        </a:rPr>
                        <a:t>Fairly </a:t>
                      </a:r>
                      <a:endParaRPr lang="en-GB" sz="1200" b="0" strike="noStrike" spc="-1">
                        <a:latin typeface="Arial"/>
                      </a:endParaRPr>
                    </a:p>
                    <a:p>
                      <a:pPr>
                        <a:lnSpc>
                          <a:spcPct val="100000"/>
                        </a:lnSpc>
                      </a:pPr>
                      <a:r>
                        <a:rPr lang="en-GB" sz="1200" b="0" strike="noStrike" spc="-1">
                          <a:solidFill>
                            <a:srgbClr val="000000"/>
                          </a:solidFill>
                          <a:latin typeface="Calibri"/>
                        </a:rPr>
                        <a:t>likely</a:t>
                      </a:r>
                      <a:endParaRPr lang="en-GB" sz="12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2"/>
                  </a:ext>
                </a:extLst>
              </a:tr>
              <a:tr h="1389960">
                <a:tc>
                  <a:txBody>
                    <a:bodyPr/>
                    <a:lstStyle/>
                    <a:p>
                      <a:pPr algn="ctr">
                        <a:lnSpc>
                          <a:spcPct val="100000"/>
                        </a:lnSpc>
                      </a:pPr>
                      <a:r>
                        <a:rPr lang="en-GB" sz="2400" b="1" strike="noStrike" spc="-1">
                          <a:solidFill>
                            <a:srgbClr val="000000"/>
                          </a:solidFill>
                          <a:latin typeface="Calibri"/>
                        </a:rPr>
                        <a:t>D</a:t>
                      </a:r>
                      <a:endParaRPr lang="en-GB" sz="2400" b="0" strike="noStrike" spc="-1">
                        <a:latin typeface="Arial"/>
                      </a:endParaRPr>
                    </a:p>
                  </a:txBody>
                  <a:tcPr>
                    <a:lnL w="12240">
                      <a:noFill/>
                    </a:lnL>
                    <a:lnR w="12240">
                      <a:noFill/>
                    </a:lnR>
                    <a:lnT w="12240">
                      <a:noFill/>
                    </a:lnT>
                    <a:lnB w="12240">
                      <a:noFill/>
                    </a:lnB>
                    <a:noFill/>
                  </a:tcPr>
                </a:tc>
                <a:tc>
                  <a:txBody>
                    <a:bodyPr/>
                    <a:lstStyle/>
                    <a:p>
                      <a:pPr>
                        <a:lnSpc>
                          <a:spcPct val="100000"/>
                        </a:lnSpc>
                      </a:pPr>
                      <a:r>
                        <a:rPr lang="en-GB" sz="1200" b="1" strike="noStrike" spc="-1">
                          <a:solidFill>
                            <a:srgbClr val="000000"/>
                          </a:solidFill>
                          <a:latin typeface="Calibri"/>
                        </a:rPr>
                        <a:t>0 - 20%</a:t>
                      </a:r>
                      <a:endParaRPr lang="en-GB" sz="1200" b="0" strike="noStrike" spc="-1">
                        <a:latin typeface="Arial"/>
                      </a:endParaRPr>
                    </a:p>
                    <a:p>
                      <a:pPr>
                        <a:lnSpc>
                          <a:spcPct val="100000"/>
                        </a:lnSpc>
                      </a:pPr>
                      <a:r>
                        <a:rPr lang="en-GB" sz="1200" b="0" strike="noStrike" spc="-1">
                          <a:solidFill>
                            <a:srgbClr val="000000"/>
                          </a:solidFill>
                          <a:latin typeface="Calibri"/>
                        </a:rPr>
                        <a:t>Unlikely</a:t>
                      </a:r>
                      <a:endParaRPr lang="en-GB" sz="12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3"/>
                  </a:ext>
                </a:extLst>
              </a:tr>
            </a:tbl>
          </a:graphicData>
        </a:graphic>
      </p:graphicFrame>
      <p:sp>
        <p:nvSpPr>
          <p:cNvPr id="262" name="CustomShape 6"/>
          <p:cNvSpPr/>
          <p:nvPr/>
        </p:nvSpPr>
        <p:spPr>
          <a:xfrm>
            <a:off x="-118800" y="6181200"/>
            <a:ext cx="136080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GB" sz="2400" b="1" strike="noStrike" spc="-1">
                <a:solidFill>
                  <a:srgbClr val="000000"/>
                </a:solidFill>
                <a:latin typeface="Calibri"/>
              </a:rPr>
              <a:t>Impact</a:t>
            </a:r>
            <a:endParaRPr lang="en-GB" sz="2400" b="0" strike="noStrike" spc="-1">
              <a:latin typeface="Arial"/>
            </a:endParaRPr>
          </a:p>
        </p:txBody>
      </p:sp>
      <p:sp>
        <p:nvSpPr>
          <p:cNvPr id="263" name="CustomShape 7"/>
          <p:cNvSpPr/>
          <p:nvPr/>
        </p:nvSpPr>
        <p:spPr>
          <a:xfrm>
            <a:off x="154080" y="395640"/>
            <a:ext cx="3571200" cy="466560"/>
          </a:xfrm>
          <a:prstGeom prst="rect">
            <a:avLst/>
          </a:prstGeom>
          <a:noFill/>
          <a:ln>
            <a:noFill/>
          </a:ln>
        </p:spPr>
        <p:style>
          <a:lnRef idx="0">
            <a:scrgbClr r="0" g="0" b="0"/>
          </a:lnRef>
          <a:fillRef idx="0">
            <a:scrgbClr r="0" g="0" b="0"/>
          </a:fillRef>
          <a:effectRef idx="0">
            <a:scrgbClr r="0" g="0" b="0"/>
          </a:effectRef>
          <a:fontRef idx="minor"/>
        </p:style>
        <p:txBody>
          <a:bodyPr anchor="ctr"/>
          <a:lstStyle/>
          <a:p>
            <a:pPr>
              <a:lnSpc>
                <a:spcPct val="90000"/>
              </a:lnSpc>
            </a:pPr>
            <a:r>
              <a:rPr lang="en-GB" sz="1400" b="0" strike="noStrike" spc="-1">
                <a:solidFill>
                  <a:srgbClr val="000000"/>
                </a:solidFill>
                <a:latin typeface="Calibri Light"/>
              </a:rPr>
              <a:t>Last updated on 18.09.2020</a:t>
            </a:r>
            <a:endParaRPr lang="en-GB" sz="1400" b="0" strike="noStrike" spc="-1">
              <a:latin typeface="Arial"/>
            </a:endParaRPr>
          </a:p>
        </p:txBody>
      </p:sp>
      <p:sp>
        <p:nvSpPr>
          <p:cNvPr id="264" name="CustomShape 8"/>
          <p:cNvSpPr/>
          <p:nvPr/>
        </p:nvSpPr>
        <p:spPr>
          <a:xfrm>
            <a:off x="10641960" y="541080"/>
            <a:ext cx="17524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GB" sz="2000" b="1" strike="noStrike" spc="-1">
                <a:solidFill>
                  <a:srgbClr val="000000"/>
                </a:solidFill>
                <a:latin typeface="Calibri"/>
              </a:rPr>
              <a:t>Probability</a:t>
            </a:r>
            <a:endParaRPr lang="en-GB" sz="2000" b="0" strike="noStrike" spc="-1">
              <a:latin typeface="Arial"/>
            </a:endParaRPr>
          </a:p>
        </p:txBody>
      </p:sp>
      <p:graphicFrame>
        <p:nvGraphicFramePr>
          <p:cNvPr id="265" name="Table 9"/>
          <p:cNvGraphicFramePr/>
          <p:nvPr/>
        </p:nvGraphicFramePr>
        <p:xfrm>
          <a:off x="9048960" y="25920"/>
          <a:ext cx="3142800" cy="360000"/>
        </p:xfrm>
        <a:graphic>
          <a:graphicData uri="http://schemas.openxmlformats.org/drawingml/2006/table">
            <a:tbl>
              <a:tblPr/>
              <a:tblGrid>
                <a:gridCol w="3142800">
                  <a:extLst>
                    <a:ext uri="{9D8B030D-6E8A-4147-A177-3AD203B41FA5}">
                      <a16:colId xmlns:a16="http://schemas.microsoft.com/office/drawing/2014/main" val="20000"/>
                    </a:ext>
                  </a:extLst>
                </a:gridCol>
              </a:tblGrid>
              <a:tr h="0">
                <a:tc>
                  <a:txBody>
                    <a:bodyPr/>
                    <a:lstStyle/>
                    <a:p>
                      <a:pPr>
                        <a:lnSpc>
                          <a:spcPct val="100000"/>
                        </a:lnSpc>
                      </a:pPr>
                      <a:r>
                        <a:rPr lang="en-GB" sz="1000" b="1" strike="noStrike" spc="-1">
                          <a:solidFill>
                            <a:srgbClr val="FF0000"/>
                          </a:solidFill>
                          <a:latin typeface="Arial"/>
                        </a:rPr>
                        <a:t>RED </a:t>
                      </a:r>
                      <a:r>
                        <a:rPr lang="en-GB" sz="1000" b="0" strike="noStrike" spc="-1">
                          <a:solidFill>
                            <a:srgbClr val="000000"/>
                          </a:solidFill>
                          <a:latin typeface="Arial"/>
                        </a:rPr>
                        <a:t>:        Action to be taken</a:t>
                      </a:r>
                      <a:br/>
                      <a:r>
                        <a:rPr lang="en-GB" sz="1000" b="1" strike="noStrike" spc="-1">
                          <a:solidFill>
                            <a:srgbClr val="FFC000"/>
                          </a:solidFill>
                          <a:latin typeface="Arial"/>
                        </a:rPr>
                        <a:t>ORANGE</a:t>
                      </a:r>
                      <a:r>
                        <a:rPr lang="en-GB" sz="1000" b="0" strike="noStrike" spc="-1">
                          <a:solidFill>
                            <a:srgbClr val="000000"/>
                          </a:solidFill>
                          <a:latin typeface="Arial"/>
                        </a:rPr>
                        <a:t>: Evaluate possible action / to be monitored</a:t>
                      </a:r>
                      <a:br/>
                      <a:r>
                        <a:rPr lang="en-GB" sz="1000" b="0" strike="noStrike" spc="-1">
                          <a:solidFill>
                            <a:srgbClr val="000000"/>
                          </a:solidFill>
                          <a:latin typeface="Arial"/>
                        </a:rPr>
                        <a:t>YELLOW:  No action, within tolerance</a:t>
                      </a:r>
                      <a:endParaRPr lang="en-GB" sz="1000" b="0" strike="noStrike" spc="-1">
                        <a:latin typeface="Arial"/>
                      </a:endParaRPr>
                    </a:p>
                  </a:txBody>
                  <a:tcPr>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 name="Table 1"/>
          <p:cNvGraphicFramePr/>
          <p:nvPr/>
        </p:nvGraphicFramePr>
        <p:xfrm>
          <a:off x="169920" y="2367360"/>
          <a:ext cx="4319640" cy="2159640"/>
        </p:xfrm>
        <a:graphic>
          <a:graphicData uri="http://schemas.openxmlformats.org/drawingml/2006/table">
            <a:tbl>
              <a:tblPr/>
              <a:tblGrid>
                <a:gridCol w="4320000">
                  <a:extLst>
                    <a:ext uri="{9D8B030D-6E8A-4147-A177-3AD203B41FA5}">
                      <a16:colId xmlns:a16="http://schemas.microsoft.com/office/drawing/2014/main" val="20000"/>
                    </a:ext>
                  </a:extLst>
                </a:gridCol>
              </a:tblGrid>
              <a:tr h="375480">
                <a:tc>
                  <a:txBody>
                    <a:bodyPr/>
                    <a:lstStyle/>
                    <a:p>
                      <a:pPr>
                        <a:lnSpc>
                          <a:spcPct val="100000"/>
                        </a:lnSpc>
                      </a:pPr>
                      <a:r>
                        <a:rPr lang="en-GB" sz="1800" b="0" strike="noStrike" spc="-1">
                          <a:solidFill>
                            <a:srgbClr val="000000"/>
                          </a:solidFill>
                          <a:latin typeface="Calibri"/>
                        </a:rPr>
                        <a:t>Risk Description</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17841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bl>
          </a:graphicData>
        </a:graphic>
      </p:graphicFrame>
      <p:graphicFrame>
        <p:nvGraphicFramePr>
          <p:cNvPr id="267" name="Table 2"/>
          <p:cNvGraphicFramePr/>
          <p:nvPr/>
        </p:nvGraphicFramePr>
        <p:xfrm>
          <a:off x="9081360" y="153000"/>
          <a:ext cx="2339640" cy="1559520"/>
        </p:xfrm>
        <a:graphic>
          <a:graphicData uri="http://schemas.openxmlformats.org/drawingml/2006/table">
            <a:tbl>
              <a:tblPr/>
              <a:tblGrid>
                <a:gridCol w="389880">
                  <a:extLst>
                    <a:ext uri="{9D8B030D-6E8A-4147-A177-3AD203B41FA5}">
                      <a16:colId xmlns:a16="http://schemas.microsoft.com/office/drawing/2014/main" val="20000"/>
                    </a:ext>
                  </a:extLst>
                </a:gridCol>
                <a:gridCol w="389880">
                  <a:extLst>
                    <a:ext uri="{9D8B030D-6E8A-4147-A177-3AD203B41FA5}">
                      <a16:colId xmlns:a16="http://schemas.microsoft.com/office/drawing/2014/main" val="20001"/>
                    </a:ext>
                  </a:extLst>
                </a:gridCol>
                <a:gridCol w="389880">
                  <a:extLst>
                    <a:ext uri="{9D8B030D-6E8A-4147-A177-3AD203B41FA5}">
                      <a16:colId xmlns:a16="http://schemas.microsoft.com/office/drawing/2014/main" val="20002"/>
                    </a:ext>
                  </a:extLst>
                </a:gridCol>
                <a:gridCol w="389880">
                  <a:extLst>
                    <a:ext uri="{9D8B030D-6E8A-4147-A177-3AD203B41FA5}">
                      <a16:colId xmlns:a16="http://schemas.microsoft.com/office/drawing/2014/main" val="20003"/>
                    </a:ext>
                  </a:extLst>
                </a:gridCol>
                <a:gridCol w="389880">
                  <a:extLst>
                    <a:ext uri="{9D8B030D-6E8A-4147-A177-3AD203B41FA5}">
                      <a16:colId xmlns:a16="http://schemas.microsoft.com/office/drawing/2014/main" val="20004"/>
                    </a:ext>
                  </a:extLst>
                </a:gridCol>
                <a:gridCol w="390240">
                  <a:extLst>
                    <a:ext uri="{9D8B030D-6E8A-4147-A177-3AD203B41FA5}">
                      <a16:colId xmlns:a16="http://schemas.microsoft.com/office/drawing/2014/main" val="20005"/>
                    </a:ext>
                  </a:extLst>
                </a:gridCol>
              </a:tblGrid>
              <a:tr h="30060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pPr algn="ctr">
                        <a:lnSpc>
                          <a:spcPct val="100000"/>
                        </a:lnSpc>
                      </a:pPr>
                      <a:r>
                        <a:rPr lang="en-GB" sz="1400" b="1" strike="noStrike" spc="-1">
                          <a:solidFill>
                            <a:srgbClr val="000000"/>
                          </a:solidFill>
                          <a:latin typeface="Calibri"/>
                        </a:rPr>
                        <a:t>A</a:t>
                      </a:r>
                      <a:endParaRPr lang="en-GB" sz="1400" b="0" strike="noStrike" spc="-1">
                        <a:latin typeface="Arial"/>
                      </a:endParaRPr>
                    </a:p>
                  </a:txBody>
                  <a:tcPr>
                    <a:lnL w="12240">
                      <a:solidFill>
                        <a:srgbClr val="000000"/>
                      </a:solidFill>
                    </a:lnL>
                    <a:lnR w="12240">
                      <a:noFill/>
                    </a:lnR>
                    <a:lnT w="12240">
                      <a:noFill/>
                    </a:lnT>
                    <a:lnB w="12240">
                      <a:noFill/>
                    </a:lnB>
                    <a:noFill/>
                  </a:tcPr>
                </a:tc>
                <a:tc rowSpan="5">
                  <a:txBody>
                    <a:bodyPr/>
                    <a:lstStyle/>
                    <a:p>
                      <a:pPr>
                        <a:lnSpc>
                          <a:spcPct val="100000"/>
                        </a:lnSpc>
                      </a:pPr>
                      <a:r>
                        <a:rPr lang="en-GB" sz="1400" b="1" strike="noStrike" spc="-1">
                          <a:solidFill>
                            <a:srgbClr val="000000"/>
                          </a:solidFill>
                          <a:latin typeface="Calibri"/>
                        </a:rPr>
                        <a:t>Probability</a:t>
                      </a:r>
                      <a:endParaRPr lang="en-GB" sz="1400" b="0" strike="noStrike" spc="-1">
                        <a:latin typeface="Arial"/>
                      </a:endParaRPr>
                    </a:p>
                  </a:txBody>
                  <a:tcPr>
                    <a:lnL w="12240">
                      <a:noFill/>
                    </a:lnL>
                    <a:lnR w="12240">
                      <a:noFill/>
                    </a:lnR>
                    <a:lnT w="12240">
                      <a:noFill/>
                    </a:lnT>
                    <a:lnB w="12240">
                      <a:noFill/>
                    </a:lnB>
                    <a:noFill/>
                  </a:tcPr>
                </a:tc>
                <a:extLst>
                  <a:ext uri="{0D108BD9-81ED-4DB2-BD59-A6C34878D82A}">
                    <a16:rowId xmlns:a16="http://schemas.microsoft.com/office/drawing/2014/main" val="10000"/>
                  </a:ext>
                </a:extLst>
              </a:tr>
              <a:tr h="35712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pPr algn="ctr">
                        <a:lnSpc>
                          <a:spcPct val="100000"/>
                        </a:lnSpc>
                      </a:pPr>
                      <a:r>
                        <a:rPr lang="en-GB" sz="1800" b="1" strike="noStrike" spc="-1">
                          <a:solidFill>
                            <a:srgbClr val="FFFFFF"/>
                          </a:solidFill>
                          <a:latin typeface="Calibri"/>
                        </a:rPr>
                        <a:t>X</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pPr algn="ctr">
                        <a:lnSpc>
                          <a:spcPct val="100000"/>
                        </a:lnSpc>
                      </a:pPr>
                      <a:r>
                        <a:rPr lang="en-GB" sz="1400" b="1" strike="noStrike" spc="-1">
                          <a:solidFill>
                            <a:srgbClr val="000000"/>
                          </a:solidFill>
                          <a:latin typeface="Calibri"/>
                        </a:rPr>
                        <a:t>B</a:t>
                      </a:r>
                      <a:endParaRPr lang="en-GB" sz="1400" b="0" strike="noStrike" spc="-1">
                        <a:latin typeface="Arial"/>
                      </a:endParaRPr>
                    </a:p>
                  </a:txBody>
                  <a:tcPr>
                    <a:lnL w="12240">
                      <a:solidFill>
                        <a:srgbClr val="000000"/>
                      </a:solidFill>
                    </a:lnL>
                    <a:lnR w="12240">
                      <a:noFill/>
                    </a:lnR>
                    <a:lnT w="12240">
                      <a:noFill/>
                    </a:lnT>
                    <a:lnB w="12240">
                      <a:noFill/>
                    </a:lnB>
                    <a:noFill/>
                  </a:tcPr>
                </a:tc>
                <a:tc vMerge="1">
                  <a:txBody>
                    <a:bodyPr/>
                    <a:lstStyle/>
                    <a:p>
                      <a:endParaRPr lang="fr-FR"/>
                    </a:p>
                  </a:txBody>
                  <a:tcPr>
                    <a:solidFill>
                      <a:srgbClr val="729FCF"/>
                    </a:solidFill>
                  </a:tcPr>
                </a:tc>
                <a:extLst>
                  <a:ext uri="{0D108BD9-81ED-4DB2-BD59-A6C34878D82A}">
                    <a16:rowId xmlns:a16="http://schemas.microsoft.com/office/drawing/2014/main" val="10001"/>
                  </a:ext>
                </a:extLst>
              </a:tr>
              <a:tr h="30060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0000"/>
                    </a:solidFill>
                  </a:tcPr>
                </a:tc>
                <a:tc>
                  <a:txBody>
                    <a:bodyPr/>
                    <a:lstStyle/>
                    <a:p>
                      <a:pPr algn="ctr">
                        <a:lnSpc>
                          <a:spcPct val="100000"/>
                        </a:lnSpc>
                      </a:pPr>
                      <a:r>
                        <a:rPr lang="en-GB" sz="1400" b="1" strike="noStrike" spc="-1">
                          <a:solidFill>
                            <a:srgbClr val="000000"/>
                          </a:solidFill>
                          <a:latin typeface="Calibri"/>
                        </a:rPr>
                        <a:t>C</a:t>
                      </a:r>
                      <a:endParaRPr lang="en-GB" sz="1400" b="0" strike="noStrike" spc="-1">
                        <a:latin typeface="Arial"/>
                      </a:endParaRPr>
                    </a:p>
                  </a:txBody>
                  <a:tcPr>
                    <a:lnL w="12240">
                      <a:solidFill>
                        <a:srgbClr val="000000"/>
                      </a:solidFill>
                    </a:lnL>
                    <a:lnR w="12240">
                      <a:noFill/>
                    </a:lnR>
                    <a:lnT w="12240">
                      <a:noFill/>
                    </a:lnT>
                    <a:lnB w="12240">
                      <a:noFill/>
                    </a:lnB>
                    <a:noFill/>
                  </a:tcPr>
                </a:tc>
                <a:tc vMerge="1">
                  <a:txBody>
                    <a:bodyPr/>
                    <a:lstStyle/>
                    <a:p>
                      <a:endParaRPr lang="fr-FR"/>
                    </a:p>
                  </a:txBody>
                  <a:tcPr>
                    <a:solidFill>
                      <a:srgbClr val="729FCF"/>
                    </a:solidFill>
                  </a:tcPr>
                </a:tc>
                <a:extLst>
                  <a:ext uri="{0D108BD9-81ED-4DB2-BD59-A6C34878D82A}">
                    <a16:rowId xmlns:a16="http://schemas.microsoft.com/office/drawing/2014/main" val="10002"/>
                  </a:ext>
                </a:extLst>
              </a:tr>
              <a:tr h="30060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solidFill>
                      <a:srgbClr val="FFC000"/>
                    </a:solidFill>
                  </a:tcPr>
                </a:tc>
                <a:tc>
                  <a:txBody>
                    <a:bodyPr/>
                    <a:lstStyle/>
                    <a:p>
                      <a:pPr algn="ctr">
                        <a:lnSpc>
                          <a:spcPct val="100000"/>
                        </a:lnSpc>
                      </a:pPr>
                      <a:r>
                        <a:rPr lang="en-GB" sz="1400" b="1" strike="noStrike" spc="-1">
                          <a:solidFill>
                            <a:srgbClr val="000000"/>
                          </a:solidFill>
                          <a:latin typeface="Calibri"/>
                        </a:rPr>
                        <a:t>D</a:t>
                      </a:r>
                      <a:endParaRPr lang="en-GB" sz="1400" b="0" strike="noStrike" spc="-1">
                        <a:latin typeface="Arial"/>
                      </a:endParaRPr>
                    </a:p>
                  </a:txBody>
                  <a:tcPr>
                    <a:lnL w="12240">
                      <a:solidFill>
                        <a:srgbClr val="000000"/>
                      </a:solidFill>
                    </a:lnL>
                    <a:lnR w="12240">
                      <a:noFill/>
                    </a:lnR>
                    <a:lnT w="12240">
                      <a:noFill/>
                    </a:lnT>
                    <a:lnB w="12240">
                      <a:noFill/>
                    </a:lnB>
                    <a:noFill/>
                  </a:tcPr>
                </a:tc>
                <a:tc vMerge="1">
                  <a:txBody>
                    <a:bodyPr/>
                    <a:lstStyle/>
                    <a:p>
                      <a:endParaRPr lang="fr-FR"/>
                    </a:p>
                  </a:txBody>
                  <a:tcPr>
                    <a:solidFill>
                      <a:srgbClr val="729FCF"/>
                    </a:solidFill>
                  </a:tcPr>
                </a:tc>
                <a:extLst>
                  <a:ext uri="{0D108BD9-81ED-4DB2-BD59-A6C34878D82A}">
                    <a16:rowId xmlns:a16="http://schemas.microsoft.com/office/drawing/2014/main" val="10003"/>
                  </a:ext>
                </a:extLst>
              </a:tr>
              <a:tr h="1194120">
                <a:tc>
                  <a:txBody>
                    <a:bodyPr/>
                    <a:lstStyle/>
                    <a:p>
                      <a:pPr algn="ctr">
                        <a:lnSpc>
                          <a:spcPct val="100000"/>
                        </a:lnSpc>
                      </a:pPr>
                      <a:r>
                        <a:rPr lang="en-GB" sz="1400" b="1" strike="noStrike" spc="-1">
                          <a:solidFill>
                            <a:srgbClr val="000000"/>
                          </a:solidFill>
                          <a:latin typeface="Calibri"/>
                        </a:rPr>
                        <a:t>1</a:t>
                      </a:r>
                      <a:endParaRPr lang="en-GB" sz="1400" b="0" strike="noStrike" spc="-1">
                        <a:latin typeface="Arial"/>
                      </a:endParaRPr>
                    </a:p>
                  </a:txBody>
                  <a:tcPr>
                    <a:lnL w="12240">
                      <a:noFill/>
                    </a:lnL>
                    <a:lnR w="12240">
                      <a:noFill/>
                    </a:lnR>
                    <a:lnT w="12240">
                      <a:solidFill>
                        <a:srgbClr val="000000"/>
                      </a:solidFill>
                    </a:lnT>
                    <a:lnB w="12240">
                      <a:noFill/>
                    </a:lnB>
                    <a:noFill/>
                  </a:tcPr>
                </a:tc>
                <a:tc>
                  <a:txBody>
                    <a:bodyPr/>
                    <a:lstStyle/>
                    <a:p>
                      <a:pPr algn="ctr">
                        <a:lnSpc>
                          <a:spcPct val="100000"/>
                        </a:lnSpc>
                      </a:pPr>
                      <a:r>
                        <a:rPr lang="en-GB" sz="1400" b="1" strike="noStrike" spc="-1">
                          <a:solidFill>
                            <a:srgbClr val="000000"/>
                          </a:solidFill>
                          <a:latin typeface="Calibri"/>
                        </a:rPr>
                        <a:t>2</a:t>
                      </a:r>
                      <a:endParaRPr lang="en-GB" sz="1400" b="0" strike="noStrike" spc="-1">
                        <a:latin typeface="Arial"/>
                      </a:endParaRPr>
                    </a:p>
                  </a:txBody>
                  <a:tcPr>
                    <a:lnL w="12240">
                      <a:noFill/>
                    </a:lnL>
                    <a:lnR w="12240">
                      <a:noFill/>
                    </a:lnR>
                    <a:lnT w="12240">
                      <a:solidFill>
                        <a:srgbClr val="000000"/>
                      </a:solidFill>
                    </a:lnT>
                    <a:lnB w="12240">
                      <a:noFill/>
                    </a:lnB>
                    <a:noFill/>
                  </a:tcPr>
                </a:tc>
                <a:tc>
                  <a:txBody>
                    <a:bodyPr/>
                    <a:lstStyle/>
                    <a:p>
                      <a:pPr algn="ctr">
                        <a:lnSpc>
                          <a:spcPct val="100000"/>
                        </a:lnSpc>
                      </a:pPr>
                      <a:r>
                        <a:rPr lang="en-GB" sz="1400" b="1" strike="noStrike" spc="-1">
                          <a:solidFill>
                            <a:srgbClr val="000000"/>
                          </a:solidFill>
                          <a:latin typeface="Calibri"/>
                        </a:rPr>
                        <a:t>3</a:t>
                      </a:r>
                      <a:endParaRPr lang="en-GB" sz="1400" b="0" strike="noStrike" spc="-1">
                        <a:latin typeface="Arial"/>
                      </a:endParaRPr>
                    </a:p>
                  </a:txBody>
                  <a:tcPr>
                    <a:lnL w="12240">
                      <a:noFill/>
                    </a:lnL>
                    <a:lnR w="12240">
                      <a:noFill/>
                    </a:lnR>
                    <a:lnT w="12240">
                      <a:solidFill>
                        <a:srgbClr val="000000"/>
                      </a:solidFill>
                    </a:lnT>
                    <a:lnB w="12240">
                      <a:noFill/>
                    </a:lnB>
                    <a:noFill/>
                  </a:tcPr>
                </a:tc>
                <a:tc>
                  <a:txBody>
                    <a:bodyPr/>
                    <a:lstStyle/>
                    <a:p>
                      <a:pPr algn="ctr">
                        <a:lnSpc>
                          <a:spcPct val="100000"/>
                        </a:lnSpc>
                      </a:pPr>
                      <a:r>
                        <a:rPr lang="en-GB" sz="1400" b="1" strike="noStrike" spc="-1">
                          <a:solidFill>
                            <a:srgbClr val="000000"/>
                          </a:solidFill>
                          <a:latin typeface="Calibri"/>
                        </a:rPr>
                        <a:t>4</a:t>
                      </a:r>
                      <a:endParaRPr lang="en-GB" sz="1400" b="0" strike="noStrike" spc="-1">
                        <a:latin typeface="Arial"/>
                      </a:endParaRPr>
                    </a:p>
                  </a:txBody>
                  <a:tcPr>
                    <a:lnL w="12240">
                      <a:noFill/>
                    </a:lnL>
                    <a:lnR w="12240">
                      <a:noFill/>
                    </a:lnR>
                    <a:lnT w="12240">
                      <a:solidFill>
                        <a:srgbClr val="000000"/>
                      </a:solidFill>
                    </a:lnT>
                    <a:lnB w="12240">
                      <a:noFill/>
                    </a:lnB>
                    <a:noFill/>
                  </a:tcPr>
                </a:tc>
                <a:tc>
                  <a:txBody>
                    <a:bodyPr/>
                    <a:lstStyle/>
                    <a:p>
                      <a:endParaRPr lang="fr-FR"/>
                    </a:p>
                  </a:txBody>
                  <a:tcPr>
                    <a:lnL w="12240">
                      <a:noFill/>
                    </a:lnL>
                    <a:lnR w="12240">
                      <a:noFill/>
                    </a:lnR>
                    <a:lnT w="12240">
                      <a:noFill/>
                    </a:lnT>
                    <a:lnB w="12240">
                      <a:noFill/>
                    </a:lnB>
                    <a:noFill/>
                  </a:tcPr>
                </a:tc>
                <a:tc vMerge="1">
                  <a:txBody>
                    <a:bodyPr/>
                    <a:lstStyle/>
                    <a:p>
                      <a:endParaRPr lang="fr-FR"/>
                    </a:p>
                  </a:txBody>
                  <a:tcPr>
                    <a:solidFill>
                      <a:srgbClr val="729FCF"/>
                    </a:solidFill>
                  </a:tcPr>
                </a:tc>
                <a:extLst>
                  <a:ext uri="{0D108BD9-81ED-4DB2-BD59-A6C34878D82A}">
                    <a16:rowId xmlns:a16="http://schemas.microsoft.com/office/drawing/2014/main" val="10004"/>
                  </a:ext>
                </a:extLst>
              </a:tr>
            </a:tbl>
          </a:graphicData>
        </a:graphic>
      </p:graphicFrame>
      <p:graphicFrame>
        <p:nvGraphicFramePr>
          <p:cNvPr id="268" name="Table 3"/>
          <p:cNvGraphicFramePr/>
          <p:nvPr/>
        </p:nvGraphicFramePr>
        <p:xfrm>
          <a:off x="169920" y="162720"/>
          <a:ext cx="4319640" cy="739800"/>
        </p:xfrm>
        <a:graphic>
          <a:graphicData uri="http://schemas.openxmlformats.org/drawingml/2006/table">
            <a:tbl>
              <a:tblPr/>
              <a:tblGrid>
                <a:gridCol w="1909080">
                  <a:extLst>
                    <a:ext uri="{9D8B030D-6E8A-4147-A177-3AD203B41FA5}">
                      <a16:colId xmlns:a16="http://schemas.microsoft.com/office/drawing/2014/main" val="20000"/>
                    </a:ext>
                  </a:extLst>
                </a:gridCol>
                <a:gridCol w="975600">
                  <a:extLst>
                    <a:ext uri="{9D8B030D-6E8A-4147-A177-3AD203B41FA5}">
                      <a16:colId xmlns:a16="http://schemas.microsoft.com/office/drawing/2014/main" val="20001"/>
                    </a:ext>
                  </a:extLst>
                </a:gridCol>
                <a:gridCol w="1434960">
                  <a:extLst>
                    <a:ext uri="{9D8B030D-6E8A-4147-A177-3AD203B41FA5}">
                      <a16:colId xmlns:a16="http://schemas.microsoft.com/office/drawing/2014/main" val="20002"/>
                    </a:ext>
                  </a:extLst>
                </a:gridCol>
              </a:tblGrid>
              <a:tr h="357120">
                <a:tc>
                  <a:txBody>
                    <a:bodyPr/>
                    <a:lstStyle/>
                    <a:p>
                      <a:pPr>
                        <a:lnSpc>
                          <a:spcPct val="100000"/>
                        </a:lnSpc>
                      </a:pPr>
                      <a:r>
                        <a:rPr lang="en-GB" sz="1800" b="0" strike="noStrike" spc="-1">
                          <a:solidFill>
                            <a:srgbClr val="000000"/>
                          </a:solidFill>
                          <a:latin typeface="Calibri"/>
                        </a:rPr>
                        <a:t>Project</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GB" sz="1800" b="0" strike="noStrike" spc="-1">
                          <a:solidFill>
                            <a:srgbClr val="000000"/>
                          </a:solidFill>
                          <a:latin typeface="Calibri"/>
                        </a:rPr>
                        <a:t>Risk n.</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GB" sz="1800" b="0" strike="noStrike" spc="-1">
                          <a:solidFill>
                            <a:srgbClr val="000000"/>
                          </a:solidFill>
                          <a:latin typeface="Calibri"/>
                        </a:rPr>
                        <a:t>Area</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4287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bl>
          </a:graphicData>
        </a:graphic>
      </p:graphicFrame>
      <p:graphicFrame>
        <p:nvGraphicFramePr>
          <p:cNvPr id="269" name="Table 4"/>
          <p:cNvGraphicFramePr/>
          <p:nvPr/>
        </p:nvGraphicFramePr>
        <p:xfrm>
          <a:off x="169920" y="969120"/>
          <a:ext cx="4319640" cy="739800"/>
        </p:xfrm>
        <a:graphic>
          <a:graphicData uri="http://schemas.openxmlformats.org/drawingml/2006/table">
            <a:tbl>
              <a:tblPr/>
              <a:tblGrid>
                <a:gridCol w="4320000">
                  <a:extLst>
                    <a:ext uri="{9D8B030D-6E8A-4147-A177-3AD203B41FA5}">
                      <a16:colId xmlns:a16="http://schemas.microsoft.com/office/drawing/2014/main" val="20000"/>
                    </a:ext>
                  </a:extLst>
                </a:gridCol>
              </a:tblGrid>
              <a:tr h="357120">
                <a:tc>
                  <a:txBody>
                    <a:bodyPr/>
                    <a:lstStyle/>
                    <a:p>
                      <a:pPr>
                        <a:lnSpc>
                          <a:spcPct val="100000"/>
                        </a:lnSpc>
                      </a:pPr>
                      <a:r>
                        <a:rPr lang="en-GB" sz="1800" b="0" strike="noStrike" spc="-1">
                          <a:solidFill>
                            <a:srgbClr val="000000"/>
                          </a:solidFill>
                          <a:latin typeface="Calibri"/>
                        </a:rPr>
                        <a:t>Risk name</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4287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bl>
          </a:graphicData>
        </a:graphic>
      </p:graphicFrame>
      <p:graphicFrame>
        <p:nvGraphicFramePr>
          <p:cNvPr id="270" name="Table 5"/>
          <p:cNvGraphicFramePr/>
          <p:nvPr/>
        </p:nvGraphicFramePr>
        <p:xfrm>
          <a:off x="4584240" y="2367360"/>
          <a:ext cx="4319640" cy="2159640"/>
        </p:xfrm>
        <a:graphic>
          <a:graphicData uri="http://schemas.openxmlformats.org/drawingml/2006/table">
            <a:tbl>
              <a:tblPr/>
              <a:tblGrid>
                <a:gridCol w="4320000">
                  <a:extLst>
                    <a:ext uri="{9D8B030D-6E8A-4147-A177-3AD203B41FA5}">
                      <a16:colId xmlns:a16="http://schemas.microsoft.com/office/drawing/2014/main" val="20000"/>
                    </a:ext>
                  </a:extLst>
                </a:gridCol>
              </a:tblGrid>
              <a:tr h="375120">
                <a:tc>
                  <a:txBody>
                    <a:bodyPr/>
                    <a:lstStyle/>
                    <a:p>
                      <a:pPr>
                        <a:lnSpc>
                          <a:spcPct val="100000"/>
                        </a:lnSpc>
                      </a:pPr>
                      <a:r>
                        <a:rPr lang="en-GB" sz="1800" b="0" strike="noStrike" spc="-1">
                          <a:solidFill>
                            <a:srgbClr val="000000"/>
                          </a:solidFill>
                          <a:latin typeface="Calibri"/>
                        </a:rPr>
                        <a:t>Impact Description</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178452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bl>
          </a:graphicData>
        </a:graphic>
      </p:graphicFrame>
      <p:graphicFrame>
        <p:nvGraphicFramePr>
          <p:cNvPr id="271" name="Table 6"/>
          <p:cNvGraphicFramePr/>
          <p:nvPr/>
        </p:nvGraphicFramePr>
        <p:xfrm>
          <a:off x="169920" y="4595400"/>
          <a:ext cx="4319640" cy="2154960"/>
        </p:xfrm>
        <a:graphic>
          <a:graphicData uri="http://schemas.openxmlformats.org/drawingml/2006/table">
            <a:tbl>
              <a:tblPr/>
              <a:tblGrid>
                <a:gridCol w="4320000">
                  <a:extLst>
                    <a:ext uri="{9D8B030D-6E8A-4147-A177-3AD203B41FA5}">
                      <a16:colId xmlns:a16="http://schemas.microsoft.com/office/drawing/2014/main" val="20000"/>
                    </a:ext>
                  </a:extLst>
                </a:gridCol>
              </a:tblGrid>
              <a:tr h="375480">
                <a:tc>
                  <a:txBody>
                    <a:bodyPr/>
                    <a:lstStyle/>
                    <a:p>
                      <a:pPr>
                        <a:lnSpc>
                          <a:spcPct val="100000"/>
                        </a:lnSpc>
                      </a:pPr>
                      <a:r>
                        <a:rPr lang="en-GB" sz="1800" b="0" strike="noStrike" spc="-1">
                          <a:solidFill>
                            <a:srgbClr val="000000"/>
                          </a:solidFill>
                          <a:latin typeface="Calibri"/>
                        </a:rPr>
                        <a:t>Key Action</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59004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9472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9472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graphicFrame>
        <p:nvGraphicFramePr>
          <p:cNvPr id="272" name="Table 7"/>
          <p:cNvGraphicFramePr/>
          <p:nvPr/>
        </p:nvGraphicFramePr>
        <p:xfrm>
          <a:off x="4584240" y="4595400"/>
          <a:ext cx="4319640" cy="2159640"/>
        </p:xfrm>
        <a:graphic>
          <a:graphicData uri="http://schemas.openxmlformats.org/drawingml/2006/table">
            <a:tbl>
              <a:tblPr/>
              <a:tblGrid>
                <a:gridCol w="216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tblGrid>
              <a:tr h="622440">
                <a:tc>
                  <a:txBody>
                    <a:bodyPr/>
                    <a:lstStyle/>
                    <a:p>
                      <a:pPr>
                        <a:lnSpc>
                          <a:spcPct val="100000"/>
                        </a:lnSpc>
                      </a:pPr>
                      <a:r>
                        <a:rPr lang="en-GB" sz="1800" b="0" strike="noStrike" spc="-1">
                          <a:solidFill>
                            <a:srgbClr val="000000"/>
                          </a:solidFill>
                          <a:latin typeface="Calibri"/>
                        </a:rPr>
                        <a:t>Responsible</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GB" sz="1800" b="0" strike="noStrike" spc="-1">
                          <a:solidFill>
                            <a:srgbClr val="000000"/>
                          </a:solidFill>
                          <a:latin typeface="Calibri"/>
                        </a:rPr>
                        <a:t>Deadline</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GB" sz="1800" b="0" strike="noStrike" spc="-1">
                          <a:solidFill>
                            <a:srgbClr val="000000"/>
                          </a:solidFill>
                          <a:latin typeface="Calibri"/>
                        </a:rPr>
                        <a:t>Status</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51264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1264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1192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273" name="CustomShape 8"/>
          <p:cNvSpPr/>
          <p:nvPr/>
        </p:nvSpPr>
        <p:spPr>
          <a:xfrm>
            <a:off x="11647800" y="153000"/>
            <a:ext cx="373680" cy="369720"/>
          </a:xfrm>
          <a:prstGeom prst="actionButtonHom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p:style>
      </p:sp>
      <p:graphicFrame>
        <p:nvGraphicFramePr>
          <p:cNvPr id="274" name="Table 9"/>
          <p:cNvGraphicFramePr/>
          <p:nvPr/>
        </p:nvGraphicFramePr>
        <p:xfrm>
          <a:off x="9081360" y="2367360"/>
          <a:ext cx="2940480" cy="4387680"/>
        </p:xfrm>
        <a:graphic>
          <a:graphicData uri="http://schemas.openxmlformats.org/drawingml/2006/table">
            <a:tbl>
              <a:tblPr/>
              <a:tblGrid>
                <a:gridCol w="2940480">
                  <a:extLst>
                    <a:ext uri="{9D8B030D-6E8A-4147-A177-3AD203B41FA5}">
                      <a16:colId xmlns:a16="http://schemas.microsoft.com/office/drawing/2014/main" val="20000"/>
                    </a:ext>
                  </a:extLst>
                </a:gridCol>
              </a:tblGrid>
              <a:tr h="376920">
                <a:tc>
                  <a:txBody>
                    <a:bodyPr/>
                    <a:lstStyle/>
                    <a:p>
                      <a:pPr>
                        <a:lnSpc>
                          <a:spcPct val="100000"/>
                        </a:lnSpc>
                      </a:pPr>
                      <a:r>
                        <a:rPr lang="en-GB" sz="1800" b="0" strike="noStrike" spc="-1">
                          <a:solidFill>
                            <a:srgbClr val="000000"/>
                          </a:solidFill>
                          <a:latin typeface="Calibri"/>
                        </a:rPr>
                        <a:t>Data, Charts, Images</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40107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bl>
          </a:graphicData>
        </a:graphic>
      </p:graphicFrame>
      <p:sp>
        <p:nvSpPr>
          <p:cNvPr id="275" name="CustomShape 10"/>
          <p:cNvSpPr/>
          <p:nvPr/>
        </p:nvSpPr>
        <p:spPr>
          <a:xfrm>
            <a:off x="8996040" y="1949040"/>
            <a:ext cx="87156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GB" sz="1400" b="1" strike="noStrike" spc="-1">
                <a:solidFill>
                  <a:srgbClr val="000000"/>
                </a:solidFill>
                <a:latin typeface="Calibri"/>
              </a:rPr>
              <a:t>Impact</a:t>
            </a:r>
            <a:endParaRPr lang="en-GB" sz="1400" b="0" strike="noStrike" spc="-1">
              <a:latin typeface="Arial"/>
            </a:endParaRPr>
          </a:p>
        </p:txBody>
      </p:sp>
      <p:graphicFrame>
        <p:nvGraphicFramePr>
          <p:cNvPr id="276" name="Table 11"/>
          <p:cNvGraphicFramePr/>
          <p:nvPr/>
        </p:nvGraphicFramePr>
        <p:xfrm>
          <a:off x="4551480" y="160920"/>
          <a:ext cx="4352400" cy="739800"/>
        </p:xfrm>
        <a:graphic>
          <a:graphicData uri="http://schemas.openxmlformats.org/drawingml/2006/table">
            <a:tbl>
              <a:tblPr/>
              <a:tblGrid>
                <a:gridCol w="2895480">
                  <a:extLst>
                    <a:ext uri="{9D8B030D-6E8A-4147-A177-3AD203B41FA5}">
                      <a16:colId xmlns:a16="http://schemas.microsoft.com/office/drawing/2014/main" val="20000"/>
                    </a:ext>
                  </a:extLst>
                </a:gridCol>
                <a:gridCol w="1456920">
                  <a:extLst>
                    <a:ext uri="{9D8B030D-6E8A-4147-A177-3AD203B41FA5}">
                      <a16:colId xmlns:a16="http://schemas.microsoft.com/office/drawing/2014/main" val="20001"/>
                    </a:ext>
                  </a:extLst>
                </a:gridCol>
              </a:tblGrid>
              <a:tr h="640440">
                <a:tc>
                  <a:txBody>
                    <a:bodyPr/>
                    <a:lstStyle/>
                    <a:p>
                      <a:pPr>
                        <a:lnSpc>
                          <a:spcPct val="100000"/>
                        </a:lnSpc>
                      </a:pPr>
                      <a:r>
                        <a:rPr lang="en-GB" sz="1800" b="0" strike="noStrike" spc="-1">
                          <a:solidFill>
                            <a:srgbClr val="000000"/>
                          </a:solidFill>
                          <a:latin typeface="Calibri"/>
                        </a:rPr>
                        <a:t>Risk Owner</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GB" sz="1800" b="0" strike="noStrike" spc="-1">
                          <a:solidFill>
                            <a:srgbClr val="000000"/>
                          </a:solidFill>
                          <a:latin typeface="Calibri"/>
                        </a:rPr>
                        <a:t>Last updated</a:t>
                      </a:r>
                      <a:endParaRPr lang="en-GB"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extLst>
                  <a:ext uri="{0D108BD9-81ED-4DB2-BD59-A6C34878D82A}">
                    <a16:rowId xmlns:a16="http://schemas.microsoft.com/office/drawing/2014/main" val="10000"/>
                  </a:ext>
                </a:extLst>
              </a:tr>
              <a:tr h="457560">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fr-F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bl>
          </a:graphicData>
        </a:graphic>
      </p:graphicFrame>
      <p:sp>
        <p:nvSpPr>
          <p:cNvPr id="277" name="CustomShape 12"/>
          <p:cNvSpPr/>
          <p:nvPr/>
        </p:nvSpPr>
        <p:spPr>
          <a:xfrm rot="20413200">
            <a:off x="333720" y="1047240"/>
            <a:ext cx="5353560" cy="1310400"/>
          </a:xfrm>
          <a:prstGeom prst="rect">
            <a:avLst/>
          </a:prstGeom>
          <a:noFill/>
          <a:ln>
            <a:noFill/>
          </a:ln>
        </p:spPr>
        <p:style>
          <a:lnRef idx="0">
            <a:scrgbClr r="0" g="0" b="0"/>
          </a:lnRef>
          <a:fillRef idx="0">
            <a:scrgbClr r="0" g="0" b="0"/>
          </a:fillRef>
          <a:effectRef idx="0">
            <a:scrgbClr r="0" g="0" b="0"/>
          </a:effectRef>
          <a:fontRef idx="minor"/>
        </p:style>
        <p:txBody>
          <a:bodyPr wrap="none"/>
          <a:lstStyle/>
          <a:p>
            <a:pPr algn="ctr">
              <a:lnSpc>
                <a:spcPct val="100000"/>
              </a:lnSpc>
            </a:pPr>
            <a:r>
              <a:rPr lang="en-GB" sz="8000" b="1" strike="noStrike" spc="-1">
                <a:solidFill>
                  <a:srgbClr val="F8CBAD"/>
                </a:solidFill>
                <a:latin typeface="Calibri"/>
              </a:rPr>
              <a:t>template</a:t>
            </a:r>
            <a:endParaRPr lang="en-GB" sz="8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TotalTime>
  <Words>661</Words>
  <Application>Microsoft Office PowerPoint</Application>
  <PresentationFormat>Widescreen</PresentationFormat>
  <Paragraphs>180</Paragraphs>
  <Slides>14</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14</vt:i4>
      </vt:variant>
    </vt:vector>
  </HeadingPairs>
  <TitlesOfParts>
    <vt:vector size="25" baseType="lpstr">
      <vt:lpstr>Arial</vt:lpstr>
      <vt:lpstr>Calibri</vt:lpstr>
      <vt:lpstr>Calibri Light</vt:lpstr>
      <vt:lpstr>StarSymbol</vt:lpstr>
      <vt:lpstr>Symbol</vt:lpstr>
      <vt:lpstr>Times New Roman</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Tri-Risk</dc:title>
  <dc:subject/>
  <dc:creator>Ramalho,João,CH-Orbe</dc:creator>
  <dc:description/>
  <cp:lastModifiedBy>Ramalho,João,CH-Orbe</cp:lastModifiedBy>
  <cp:revision>25</cp:revision>
  <dcterms:created xsi:type="dcterms:W3CDTF">2020-11-17T13:00:20Z</dcterms:created>
  <dcterms:modified xsi:type="dcterms:W3CDTF">2020-11-20T17:32:16Z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MSIP_Label_1ada0a2f-b917-4d51-b0d0-d418a10c8b23_ActionId">
    <vt:lpwstr>2860b91d-cedb-4a0f-a6ca-6c9907af3601</vt:lpwstr>
  </property>
  <property fmtid="{D5CDD505-2E9C-101B-9397-08002B2CF9AE}" pid="8" name="MSIP_Label_1ada0a2f-b917-4d51-b0d0-d418a10c8b23_ContentBits">
    <vt:lpwstr>0</vt:lpwstr>
  </property>
  <property fmtid="{D5CDD505-2E9C-101B-9397-08002B2CF9AE}" pid="9" name="MSIP_Label_1ada0a2f-b917-4d51-b0d0-d418a10c8b23_Enabled">
    <vt:lpwstr>true</vt:lpwstr>
  </property>
  <property fmtid="{D5CDD505-2E9C-101B-9397-08002B2CF9AE}" pid="10" name="MSIP_Label_1ada0a2f-b917-4d51-b0d0-d418a10c8b23_Method">
    <vt:lpwstr>Standard</vt:lpwstr>
  </property>
  <property fmtid="{D5CDD505-2E9C-101B-9397-08002B2CF9AE}" pid="11" name="MSIP_Label_1ada0a2f-b917-4d51-b0d0-d418a10c8b23_Name">
    <vt:lpwstr>1ada0a2f-b917-4d51-b0d0-d418a10c8b23</vt:lpwstr>
  </property>
  <property fmtid="{D5CDD505-2E9C-101B-9397-08002B2CF9AE}" pid="12" name="MSIP_Label_1ada0a2f-b917-4d51-b0d0-d418a10c8b23_SetDate">
    <vt:lpwstr>2020-11-17T13:05:42Z</vt:lpwstr>
  </property>
  <property fmtid="{D5CDD505-2E9C-101B-9397-08002B2CF9AE}" pid="13" name="MSIP_Label_1ada0a2f-b917-4d51-b0d0-d418a10c8b23_SiteId">
    <vt:lpwstr>12a3af23-a769-4654-847f-958f3d479f4a</vt:lpwstr>
  </property>
  <property fmtid="{D5CDD505-2E9C-101B-9397-08002B2CF9AE}" pid="14" name="Notes">
    <vt:i4>1</vt:i4>
  </property>
  <property fmtid="{D5CDD505-2E9C-101B-9397-08002B2CF9AE}" pid="15" name="PresentationFormat">
    <vt:lpwstr>Widescreen</vt:lpwstr>
  </property>
  <property fmtid="{D5CDD505-2E9C-101B-9397-08002B2CF9AE}" pid="16" name="ScaleCrop">
    <vt:bool>false</vt:bool>
  </property>
  <property fmtid="{D5CDD505-2E9C-101B-9397-08002B2CF9AE}" pid="17" name="ShareDoc">
    <vt:bool>false</vt:bool>
  </property>
  <property fmtid="{D5CDD505-2E9C-101B-9397-08002B2CF9AE}" pid="18" name="Slides">
    <vt:i4>13</vt:i4>
  </property>
</Properties>
</file>